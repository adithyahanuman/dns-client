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1" r:id="rId6"/>
    <p:sldId id="262" r:id="rId7"/>
    <p:sldId id="263" r:id="rId8"/>
    <p:sldId id="264" r:id="rId9"/>
    <p:sldId id="265" r:id="rId10"/>
    <p:sldId id="266" r:id="rId11"/>
    <p:sldId id="267" r:id="rId12"/>
    <p:sldId id="269" r:id="rId13"/>
    <p:sldId id="270" r:id="rId14"/>
    <p:sldId id="271"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7C0B5D-2D68-47E1-8CBB-21FFCD9EFF6E}" v="10" dt="2026-08-04T16:13:59.3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lackcaps 1009" userId="57744fad7f730f6c" providerId="LiveId" clId="{F630F694-22BD-4D28-8F91-53E535D417BB}"/>
    <pc:docChg chg="undo custSel modSld">
      <pc:chgData name="Blackcaps 1009" userId="57744fad7f730f6c" providerId="LiveId" clId="{F630F694-22BD-4D28-8F91-53E535D417BB}" dt="2026-08-04T16:15:29.902" v="216" actId="1076"/>
      <pc:docMkLst>
        <pc:docMk/>
      </pc:docMkLst>
      <pc:sldChg chg="addSp modSp mod">
        <pc:chgData name="Blackcaps 1009" userId="57744fad7f730f6c" providerId="LiveId" clId="{F630F694-22BD-4D28-8F91-53E535D417BB}" dt="2026-08-04T16:15:29.902" v="216" actId="1076"/>
        <pc:sldMkLst>
          <pc:docMk/>
          <pc:sldMk cId="0" sldId="256"/>
        </pc:sldMkLst>
        <pc:spChg chg="mod">
          <ac:chgData name="Blackcaps 1009" userId="57744fad7f730f6c" providerId="LiveId" clId="{F630F694-22BD-4D28-8F91-53E535D417BB}" dt="2026-08-04T16:04:33.936" v="110" actId="1076"/>
          <ac:spMkLst>
            <pc:docMk/>
            <pc:sldMk cId="0" sldId="256"/>
            <ac:spMk id="2" creationId="{00000000-0000-0000-0000-000000000000}"/>
          </ac:spMkLst>
        </pc:spChg>
        <pc:spChg chg="mod">
          <ac:chgData name="Blackcaps 1009" userId="57744fad7f730f6c" providerId="LiveId" clId="{F630F694-22BD-4D28-8F91-53E535D417BB}" dt="2026-08-04T16:04:38.029" v="111" actId="1076"/>
          <ac:spMkLst>
            <pc:docMk/>
            <pc:sldMk cId="0" sldId="256"/>
            <ac:spMk id="3" creationId="{00000000-0000-0000-0000-000000000000}"/>
          </ac:spMkLst>
        </pc:spChg>
        <pc:spChg chg="mod">
          <ac:chgData name="Blackcaps 1009" userId="57744fad7f730f6c" providerId="LiveId" clId="{F630F694-22BD-4D28-8F91-53E535D417BB}" dt="2026-08-04T16:09:00.433" v="113" actId="14100"/>
          <ac:spMkLst>
            <pc:docMk/>
            <pc:sldMk cId="0" sldId="256"/>
            <ac:spMk id="4" creationId="{00000000-0000-0000-0000-000000000000}"/>
          </ac:spMkLst>
        </pc:spChg>
        <pc:spChg chg="add mod">
          <ac:chgData name="Blackcaps 1009" userId="57744fad7f730f6c" providerId="LiveId" clId="{F630F694-22BD-4D28-8F91-53E535D417BB}" dt="2026-08-04T16:15:29.902" v="216" actId="1076"/>
          <ac:spMkLst>
            <pc:docMk/>
            <pc:sldMk cId="0" sldId="256"/>
            <ac:spMk id="6" creationId="{D9AE0881-A05E-A0F9-6B55-AAE401F225B6}"/>
          </ac:spMkLst>
        </pc:spChg>
      </pc:sldChg>
      <pc:sldChg chg="delSp modSp mod">
        <pc:chgData name="Blackcaps 1009" userId="57744fad7f730f6c" providerId="LiveId" clId="{F630F694-22BD-4D28-8F91-53E535D417BB}" dt="2026-08-04T16:03:51.554" v="109" actId="1076"/>
        <pc:sldMkLst>
          <pc:docMk/>
          <pc:sldMk cId="0" sldId="271"/>
        </pc:sldMkLst>
        <pc:spChg chg="mod">
          <ac:chgData name="Blackcaps 1009" userId="57744fad7f730f6c" providerId="LiveId" clId="{F630F694-22BD-4D28-8F91-53E535D417BB}" dt="2026-08-04T16:02:06.145" v="43" actId="113"/>
          <ac:spMkLst>
            <pc:docMk/>
            <pc:sldMk cId="0" sldId="271"/>
            <ac:spMk id="3" creationId="{00000000-0000-0000-0000-000000000000}"/>
          </ac:spMkLst>
        </pc:spChg>
        <pc:spChg chg="del">
          <ac:chgData name="Blackcaps 1009" userId="57744fad7f730f6c" providerId="LiveId" clId="{F630F694-22BD-4D28-8F91-53E535D417BB}" dt="2026-08-04T15:58:01.011" v="0" actId="21"/>
          <ac:spMkLst>
            <pc:docMk/>
            <pc:sldMk cId="0" sldId="271"/>
            <ac:spMk id="4" creationId="{00000000-0000-0000-0000-000000000000}"/>
          </ac:spMkLst>
        </pc:spChg>
        <pc:spChg chg="mod">
          <ac:chgData name="Blackcaps 1009" userId="57744fad7f730f6c" providerId="LiveId" clId="{F630F694-22BD-4D28-8F91-53E535D417BB}" dt="2026-08-04T16:03:34.514" v="104" actId="1076"/>
          <ac:spMkLst>
            <pc:docMk/>
            <pc:sldMk cId="0" sldId="271"/>
            <ac:spMk id="5" creationId="{00000000-0000-0000-0000-000000000000}"/>
          </ac:spMkLst>
        </pc:spChg>
        <pc:spChg chg="mod">
          <ac:chgData name="Blackcaps 1009" userId="57744fad7f730f6c" providerId="LiveId" clId="{F630F694-22BD-4D28-8F91-53E535D417BB}" dt="2026-08-04T16:03:51.554" v="109" actId="1076"/>
          <ac:spMkLst>
            <pc:docMk/>
            <pc:sldMk cId="0" sldId="271"/>
            <ac:spMk id="6" creationId="{00000000-0000-0000-0000-000000000000}"/>
          </ac:spMkLst>
        </pc:spChg>
        <pc:spChg chg="mod">
          <ac:chgData name="Blackcaps 1009" userId="57744fad7f730f6c" providerId="LiveId" clId="{F630F694-22BD-4D28-8F91-53E535D417BB}" dt="2026-08-04T16:03:42.543" v="106" actId="20577"/>
          <ac:spMkLst>
            <pc:docMk/>
            <pc:sldMk cId="0" sldId="271"/>
            <ac:spMk id="7" creationId="{00000000-0000-0000-0000-000000000000}"/>
          </ac:spMkLst>
        </pc:spChg>
        <pc:spChg chg="del mod">
          <ac:chgData name="Blackcaps 1009" userId="57744fad7f730f6c" providerId="LiveId" clId="{F630F694-22BD-4D28-8F91-53E535D417BB}" dt="2026-08-04T15:58:19.048" v="12" actId="21"/>
          <ac:spMkLst>
            <pc:docMk/>
            <pc:sldMk cId="0" sldId="271"/>
            <ac:spMk id="8" creationId="{00000000-0000-0000-0000-000000000000}"/>
          </ac:spMkLst>
        </pc:spChg>
        <pc:spChg chg="del">
          <ac:chgData name="Blackcaps 1009" userId="57744fad7f730f6c" providerId="LiveId" clId="{F630F694-22BD-4D28-8F91-53E535D417BB}" dt="2026-08-04T15:58:22.941" v="13" actId="21"/>
          <ac:spMkLst>
            <pc:docMk/>
            <pc:sldMk cId="0" sldId="271"/>
            <ac:spMk id="9" creationId="{00000000-0000-0000-0000-000000000000}"/>
          </ac:spMkLst>
        </pc:spChg>
        <pc:spChg chg="del mod">
          <ac:chgData name="Blackcaps 1009" userId="57744fad7f730f6c" providerId="LiveId" clId="{F630F694-22BD-4D28-8F91-53E535D417BB}" dt="2026-08-04T15:58:28.302" v="16" actId="21"/>
          <ac:spMkLst>
            <pc:docMk/>
            <pc:sldMk cId="0" sldId="271"/>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868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6613" y="1874520"/>
            <a:ext cx="12191695" cy="320040"/>
          </a:xfrm>
          <a:prstGeom prst="rect">
            <a:avLst/>
          </a:prstGeom>
          <a:noFill/>
          <a:ln/>
        </p:spPr>
        <p:txBody>
          <a:bodyPr wrap="square" lIns="0" tIns="0" rIns="0" bIns="0" rtlCol="0" anchor="ctr"/>
          <a:lstStyle/>
          <a:p>
            <a:pPr marL="0" indent="0" algn="ctr">
              <a:buNone/>
            </a:pPr>
            <a:r>
              <a:rPr lang="en-US" sz="1300" b="1" kern="0" spc="150" dirty="0">
                <a:solidFill>
                  <a:srgbClr val="2F5FDB"/>
                </a:solidFill>
                <a:latin typeface="Calibri" pitchFamily="34" charset="0"/>
                <a:ea typeface="Calibri" pitchFamily="34" charset="-122"/>
                <a:cs typeface="Calibri" pitchFamily="34" charset="-120"/>
              </a:rPr>
              <a:t>COMPUTER NETWORKS PROJECT</a:t>
            </a:r>
            <a:endParaRPr lang="en-US" sz="1300" dirty="0"/>
          </a:p>
        </p:txBody>
      </p:sp>
      <p:sp>
        <p:nvSpPr>
          <p:cNvPr id="3" name="Text 1"/>
          <p:cNvSpPr/>
          <p:nvPr/>
        </p:nvSpPr>
        <p:spPr>
          <a:xfrm>
            <a:off x="731519" y="2082126"/>
            <a:ext cx="10728655" cy="1005840"/>
          </a:xfrm>
          <a:prstGeom prst="rect">
            <a:avLst/>
          </a:prstGeom>
          <a:noFill/>
          <a:ln/>
        </p:spPr>
        <p:txBody>
          <a:bodyPr wrap="square" lIns="0" tIns="0" rIns="0" bIns="0" rtlCol="0" anchor="ctr"/>
          <a:lstStyle/>
          <a:p>
            <a:pPr marL="0" indent="0" algn="ctr">
              <a:buNone/>
            </a:pPr>
            <a:r>
              <a:rPr lang="en-US" sz="4400" b="1" dirty="0">
                <a:solidFill>
                  <a:srgbClr val="141B34"/>
                </a:solidFill>
                <a:latin typeface="Calibri" pitchFamily="34" charset="0"/>
                <a:ea typeface="Calibri" pitchFamily="34" charset="-122"/>
                <a:cs typeface="Calibri" pitchFamily="34" charset="-120"/>
              </a:rPr>
              <a:t>DNS Client Application</a:t>
            </a:r>
            <a:endParaRPr lang="en-US" sz="4400" dirty="0"/>
          </a:p>
        </p:txBody>
      </p:sp>
      <p:sp>
        <p:nvSpPr>
          <p:cNvPr id="4" name="Text 2"/>
          <p:cNvSpPr/>
          <p:nvPr/>
        </p:nvSpPr>
        <p:spPr>
          <a:xfrm>
            <a:off x="1411879" y="2948846"/>
            <a:ext cx="9448495" cy="384048"/>
          </a:xfrm>
          <a:prstGeom prst="rect">
            <a:avLst/>
          </a:prstGeom>
          <a:noFill/>
          <a:ln/>
        </p:spPr>
        <p:txBody>
          <a:bodyPr wrap="square" lIns="0" tIns="0" rIns="0" bIns="0" rtlCol="0" anchor="ctr"/>
          <a:lstStyle/>
          <a:p>
            <a:pPr marL="0" indent="0" algn="ctr">
              <a:buNone/>
            </a:pPr>
            <a:r>
              <a:rPr lang="en-US" sz="1500" dirty="0">
                <a:solidFill>
                  <a:srgbClr val="5B6472"/>
                </a:solidFill>
                <a:latin typeface="Calibri" pitchFamily="34" charset="0"/>
                <a:ea typeface="Calibri" pitchFamily="34" charset="-122"/>
                <a:cs typeface="Calibri" pitchFamily="34" charset="-120"/>
              </a:rPr>
              <a:t>A client-server system for domain name to IP address resolution</a:t>
            </a:r>
            <a:endParaRPr lang="en-US" sz="1500" dirty="0"/>
          </a:p>
        </p:txBody>
      </p:sp>
      <p:sp>
        <p:nvSpPr>
          <p:cNvPr id="5" name="Shape 3"/>
          <p:cNvSpPr/>
          <p:nvPr/>
        </p:nvSpPr>
        <p:spPr>
          <a:xfrm>
            <a:off x="5272888" y="4434840"/>
            <a:ext cx="1645920" cy="54864"/>
          </a:xfrm>
          <a:prstGeom prst="roundRect">
            <a:avLst>
              <a:gd name="adj" fmla="val 50000"/>
            </a:avLst>
          </a:prstGeom>
          <a:solidFill>
            <a:srgbClr val="EEF1FA"/>
          </a:solidFill>
          <a:ln/>
        </p:spPr>
      </p:sp>
      <p:sp>
        <p:nvSpPr>
          <p:cNvPr id="6" name="TextBox 5">
            <a:extLst>
              <a:ext uri="{FF2B5EF4-FFF2-40B4-BE49-F238E27FC236}">
                <a16:creationId xmlns:a16="http://schemas.microsoft.com/office/drawing/2014/main" id="{D9AE0881-A05E-A0F9-6B55-AAE401F225B6}"/>
              </a:ext>
            </a:extLst>
          </p:cNvPr>
          <p:cNvSpPr txBox="1"/>
          <p:nvPr/>
        </p:nvSpPr>
        <p:spPr>
          <a:xfrm>
            <a:off x="8327113" y="5794778"/>
            <a:ext cx="5066522" cy="461665"/>
          </a:xfrm>
          <a:prstGeom prst="rect">
            <a:avLst/>
          </a:prstGeom>
          <a:noFill/>
        </p:spPr>
        <p:txBody>
          <a:bodyPr wrap="square" rtlCol="0">
            <a:spAutoFit/>
          </a:bodyPr>
          <a:lstStyle/>
          <a:p>
            <a:r>
              <a:rPr lang="en-IN" sz="1200" dirty="0">
                <a:solidFill>
                  <a:schemeClr val="bg1">
                    <a:lumMod val="50000"/>
                  </a:schemeClr>
                </a:solidFill>
              </a:rPr>
              <a:t>V.ROHITH                  KOPPARTHI PUJITH SAI RAMAN</a:t>
            </a:r>
          </a:p>
          <a:p>
            <a:r>
              <a:rPr lang="en-IN" sz="1200" dirty="0">
                <a:solidFill>
                  <a:schemeClr val="bg1">
                    <a:lumMod val="50000"/>
                  </a:schemeClr>
                </a:solidFill>
              </a:rPr>
              <a:t>24BCI0245                         24BCI0198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185855" cy="292608"/>
          </a:xfrm>
          <a:prstGeom prst="rect">
            <a:avLst/>
          </a:prstGeom>
          <a:noFill/>
          <a:ln/>
        </p:spPr>
        <p:txBody>
          <a:bodyPr wrap="square" lIns="0" tIns="0" rIns="0" bIns="0" rtlCol="0" anchor="ctr"/>
          <a:lstStyle/>
          <a:p>
            <a:pPr marL="0" indent="0">
              <a:buNone/>
            </a:pPr>
            <a:r>
              <a:rPr lang="en-US" sz="1200" b="1" kern="0" spc="100" dirty="0">
                <a:solidFill>
                  <a:srgbClr val="2F5FDB"/>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marL="0" indent="0">
              <a:buNone/>
            </a:pPr>
            <a:r>
              <a:rPr lang="en-US" sz="3000" b="1" dirty="0">
                <a:solidFill>
                  <a:srgbClr val="141B34"/>
                </a:solidFill>
                <a:latin typeface="Calibri" pitchFamily="34" charset="0"/>
                <a:ea typeface="Calibri" pitchFamily="34" charset="-122"/>
                <a:cs typeface="Calibri" pitchFamily="34" charset="-120"/>
              </a:rPr>
              <a:t>Introduction</a:t>
            </a:r>
            <a:endParaRPr lang="en-US" sz="3000" dirty="0"/>
          </a:p>
        </p:txBody>
      </p:sp>
      <p:sp>
        <p:nvSpPr>
          <p:cNvPr id="4" name="Shape 2"/>
          <p:cNvSpPr/>
          <p:nvPr/>
        </p:nvSpPr>
        <p:spPr>
          <a:xfrm>
            <a:off x="502920" y="1554480"/>
            <a:ext cx="11185855" cy="4480560"/>
          </a:xfrm>
          <a:prstGeom prst="roundRect">
            <a:avLst>
              <a:gd name="adj" fmla="val 1633"/>
            </a:avLst>
          </a:prstGeom>
          <a:solidFill>
            <a:srgbClr val="EEF1FA"/>
          </a:solidFill>
          <a:ln/>
        </p:spPr>
      </p:sp>
      <p:sp>
        <p:nvSpPr>
          <p:cNvPr id="5" name="Text 3"/>
          <p:cNvSpPr/>
          <p:nvPr/>
        </p:nvSpPr>
        <p:spPr>
          <a:xfrm>
            <a:off x="868680" y="1828800"/>
            <a:ext cx="10454335" cy="3931920"/>
          </a:xfrm>
          <a:prstGeom prst="rect">
            <a:avLst/>
          </a:prstGeom>
          <a:noFill/>
          <a:ln/>
        </p:spPr>
        <p:txBody>
          <a:bodyPr wrap="square" lIns="0" tIns="0" rIns="0" bIns="0" rtlCol="0" anchor="t"/>
          <a:lstStyle/>
          <a:p>
            <a:pPr marL="0" indent="0">
              <a:lnSpc>
                <a:spcPct val="135000"/>
              </a:lnSpc>
              <a:buNone/>
            </a:pPr>
            <a:r>
              <a:rPr lang="en-US" sz="1600" dirty="0">
                <a:solidFill>
                  <a:srgbClr val="141B34"/>
                </a:solidFill>
                <a:latin typeface="Calibri" pitchFamily="34" charset="0"/>
                <a:ea typeface="Calibri" pitchFamily="34" charset="-122"/>
                <a:cs typeface="Calibri" pitchFamily="34" charset="-120"/>
              </a:rPr>
              <a:t>The Domain Name System (DNS) is a vital component of the internet which enables domain names to be resolved into their IP addresses. This allows users to browse through websites without memorizing the complex numerical IP addresses.</a:t>
            </a:r>
            <a:endParaRPr lang="en-US" sz="1600" dirty="0"/>
          </a:p>
          <a:p>
            <a:pPr marL="0" indent="0">
              <a:lnSpc>
                <a:spcPct val="135000"/>
              </a:lnSpc>
              <a:buNone/>
            </a:pPr>
            <a:endParaRPr lang="en-US" sz="1600" dirty="0"/>
          </a:p>
          <a:p>
            <a:pPr marL="0" indent="0">
              <a:lnSpc>
                <a:spcPct val="135000"/>
              </a:lnSpc>
              <a:buNone/>
            </a:pPr>
            <a:r>
              <a:rPr lang="en-US" sz="1600" dirty="0">
                <a:solidFill>
                  <a:srgbClr val="141B34"/>
                </a:solidFill>
                <a:latin typeface="Calibri" pitchFamily="34" charset="0"/>
                <a:ea typeface="Calibri" pitchFamily="34" charset="-122"/>
                <a:cs typeface="Calibri" pitchFamily="34" charset="-120"/>
              </a:rPr>
              <a:t>The DNS Client Application is a relatively easy project that explains the above process by utilizing the client-server architecture, whereby the client passes a domain name to the server, and the server resolves the IP address from the database present locally on the server.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185855" cy="292608"/>
          </a:xfrm>
          <a:prstGeom prst="rect">
            <a:avLst/>
          </a:prstGeom>
          <a:noFill/>
          <a:ln/>
        </p:spPr>
        <p:txBody>
          <a:bodyPr wrap="square" lIns="0" tIns="0" rIns="0" bIns="0" rtlCol="0" anchor="ctr"/>
          <a:lstStyle/>
          <a:p>
            <a:pPr marL="0" indent="0">
              <a:buNone/>
            </a:pPr>
            <a:r>
              <a:rPr lang="en-US" sz="1200" b="1" kern="0" spc="100" dirty="0">
                <a:solidFill>
                  <a:srgbClr val="2F5FDB"/>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marL="0" indent="0">
              <a:buNone/>
            </a:pPr>
            <a:r>
              <a:rPr lang="en-US" sz="3000" b="1" dirty="0">
                <a:solidFill>
                  <a:srgbClr val="141B34"/>
                </a:solidFill>
                <a:latin typeface="Calibri" pitchFamily="34" charset="0"/>
                <a:ea typeface="Calibri" pitchFamily="34" charset="-122"/>
                <a:cs typeface="Calibri" pitchFamily="34" charset="-120"/>
              </a:rPr>
              <a:t>Abstract</a:t>
            </a:r>
            <a:endParaRPr lang="en-US" sz="3000" dirty="0"/>
          </a:p>
        </p:txBody>
      </p:sp>
      <p:sp>
        <p:nvSpPr>
          <p:cNvPr id="4" name="Shape 2"/>
          <p:cNvSpPr/>
          <p:nvPr/>
        </p:nvSpPr>
        <p:spPr>
          <a:xfrm>
            <a:off x="502920" y="1554480"/>
            <a:ext cx="11185855" cy="4480560"/>
          </a:xfrm>
          <a:prstGeom prst="roundRect">
            <a:avLst>
              <a:gd name="adj" fmla="val 1633"/>
            </a:avLst>
          </a:prstGeom>
          <a:solidFill>
            <a:srgbClr val="EEF1FA"/>
          </a:solidFill>
          <a:ln/>
        </p:spPr>
      </p:sp>
      <p:sp>
        <p:nvSpPr>
          <p:cNvPr id="5" name="Text 3"/>
          <p:cNvSpPr/>
          <p:nvPr/>
        </p:nvSpPr>
        <p:spPr>
          <a:xfrm>
            <a:off x="868680" y="1828800"/>
            <a:ext cx="10454335" cy="3931920"/>
          </a:xfrm>
          <a:prstGeom prst="rect">
            <a:avLst/>
          </a:prstGeom>
          <a:noFill/>
          <a:ln/>
        </p:spPr>
        <p:txBody>
          <a:bodyPr wrap="square" lIns="0" tIns="0" rIns="0" bIns="0" rtlCol="0" anchor="t"/>
          <a:lstStyle/>
          <a:p>
            <a:pPr marL="0" indent="0">
              <a:lnSpc>
                <a:spcPct val="135000"/>
              </a:lnSpc>
              <a:buNone/>
            </a:pPr>
            <a:r>
              <a:rPr lang="en-US" sz="1600" dirty="0">
                <a:solidFill>
                  <a:srgbClr val="141B34"/>
                </a:solidFill>
                <a:latin typeface="Calibri" pitchFamily="34" charset="0"/>
                <a:ea typeface="Calibri" pitchFamily="34" charset="-122"/>
                <a:cs typeface="Calibri" pitchFamily="34" charset="-120"/>
              </a:rPr>
              <a:t>The DNS Client Application is a basic networking application designed to help learn about the Domain Name System. The application is made up of the DNS client and the DNS server.</a:t>
            </a:r>
            <a:r>
              <a:rPr lang="en-US" sz="1600" dirty="0"/>
              <a:t> </a:t>
            </a:r>
            <a:r>
              <a:rPr lang="en-US" sz="1600" dirty="0">
                <a:solidFill>
                  <a:srgbClr val="141B34"/>
                </a:solidFill>
                <a:latin typeface="Calibri" pitchFamily="34" charset="0"/>
                <a:ea typeface="Calibri" pitchFamily="34" charset="-122"/>
                <a:cs typeface="Calibri" pitchFamily="34" charset="-120"/>
              </a:rPr>
              <a:t>The user types the domain name using the client, which forwards the request to the server. The server looks up the domain in its local database and gives out the IP address if it finds the domain name. In case there is no such domain, an error message is shown. The project helps learn the basics of DNS and domain name resolution.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11185855" cy="292608"/>
          </a:xfrm>
          <a:prstGeom prst="rect">
            <a:avLst/>
          </a:prstGeom>
          <a:noFill/>
          <a:ln/>
        </p:spPr>
        <p:txBody>
          <a:bodyPr wrap="square" lIns="0" tIns="0" rIns="0" bIns="0" rtlCol="0" anchor="ctr"/>
          <a:lstStyle/>
          <a:p>
            <a:pPr marL="0" indent="0">
              <a:buNone/>
            </a:pPr>
            <a:r>
              <a:rPr lang="en-US" sz="1200" b="1" kern="0" spc="100" dirty="0">
                <a:solidFill>
                  <a:srgbClr val="2F5FDB"/>
                </a:solidFill>
                <a:latin typeface="Calibri" pitchFamily="34" charset="0"/>
                <a:ea typeface="Calibri" pitchFamily="34" charset="-122"/>
                <a:cs typeface="Calibri" pitchFamily="34" charset="-120"/>
              </a:rPr>
              <a:t>RELATED WORK</a:t>
            </a:r>
            <a:endParaRPr lang="en-US" sz="1200" dirty="0"/>
          </a:p>
        </p:txBody>
      </p:sp>
      <p:sp>
        <p:nvSpPr>
          <p:cNvPr id="3" name="Text 1"/>
          <p:cNvSpPr/>
          <p:nvPr/>
        </p:nvSpPr>
        <p:spPr>
          <a:xfrm>
            <a:off x="502920" y="658368"/>
            <a:ext cx="11185855" cy="658368"/>
          </a:xfrm>
          <a:prstGeom prst="rect">
            <a:avLst/>
          </a:prstGeom>
          <a:noFill/>
          <a:ln/>
        </p:spPr>
        <p:txBody>
          <a:bodyPr wrap="square" lIns="0" tIns="0" rIns="0" bIns="0" rtlCol="0" anchor="ctr"/>
          <a:lstStyle/>
          <a:p>
            <a:pPr marL="0" indent="0">
              <a:buNone/>
            </a:pPr>
            <a:r>
              <a:rPr lang="en-US" sz="3000" b="1" dirty="0">
                <a:solidFill>
                  <a:srgbClr val="141B34"/>
                </a:solidFill>
                <a:latin typeface="Calibri" pitchFamily="34" charset="0"/>
                <a:ea typeface="Calibri" pitchFamily="34" charset="-122"/>
                <a:cs typeface="Calibri" pitchFamily="34" charset="-120"/>
              </a:rPr>
              <a:t>Literature Survey</a:t>
            </a:r>
            <a:endParaRPr lang="en-US" sz="3000" dirty="0"/>
          </a:p>
        </p:txBody>
      </p:sp>
      <p:graphicFrame>
        <p:nvGraphicFramePr>
          <p:cNvPr id="4" name="Table 3"/>
          <p:cNvGraphicFramePr>
            <a:graphicFrameLocks noGrp="1"/>
          </p:cNvGraphicFramePr>
          <p:nvPr/>
        </p:nvGraphicFramePr>
        <p:xfrm>
          <a:off x="502920" y="1330000"/>
          <a:ext cx="11185855" cy="5300000"/>
        </p:xfrm>
        <a:graphic>
          <a:graphicData uri="http://schemas.openxmlformats.org/drawingml/2006/table">
            <a:tbl>
              <a:tblPr>
                <a:tableStyleId>{5C22544A-7EE6-4342-B048-85BDC9FD1C3A}</a:tableStyleId>
              </a:tblPr>
              <a:tblGrid>
                <a:gridCol w="4700000">
                  <a:extLst>
                    <a:ext uri="{9D8B030D-6E8A-4147-A177-3AD203B41FA5}">
                      <a16:colId xmlns:a16="http://schemas.microsoft.com/office/drawing/2014/main" val="20000"/>
                    </a:ext>
                  </a:extLst>
                </a:gridCol>
                <a:gridCol w="2700000">
                  <a:extLst>
                    <a:ext uri="{9D8B030D-6E8A-4147-A177-3AD203B41FA5}">
                      <a16:colId xmlns:a16="http://schemas.microsoft.com/office/drawing/2014/main" val="20001"/>
                    </a:ext>
                  </a:extLst>
                </a:gridCol>
                <a:gridCol w="3785855">
                  <a:extLst>
                    <a:ext uri="{9D8B030D-6E8A-4147-A177-3AD203B41FA5}">
                      <a16:colId xmlns:a16="http://schemas.microsoft.com/office/drawing/2014/main" val="20002"/>
                    </a:ext>
                  </a:extLst>
                </a:gridCol>
              </a:tblGrid>
              <a:tr h="360000">
                <a:tc>
                  <a:txBody>
                    <a:bodyPr/>
                    <a:lstStyle/>
                    <a:p>
                      <a:pPr algn="l"/>
                      <a:r>
                        <a:rPr sz="1100" b="1" i="0">
                          <a:solidFill>
                            <a:srgbClr val="FFFFFF"/>
                          </a:solidFill>
                          <a:latin typeface="Calibri"/>
                        </a:rPr>
                        <a:t>Title</a:t>
                      </a:r>
                    </a:p>
                  </a:txBody>
                  <a:tcPr marT="36000" marB="36000" anchor="ctr">
                    <a:solidFill>
                      <a:srgbClr val="141B34"/>
                    </a:solidFill>
                  </a:tcPr>
                </a:tc>
                <a:tc>
                  <a:txBody>
                    <a:bodyPr/>
                    <a:lstStyle/>
                    <a:p>
                      <a:pPr algn="l"/>
                      <a:r>
                        <a:rPr sz="1100" b="1" i="0">
                          <a:solidFill>
                            <a:srgbClr val="FFFFFF"/>
                          </a:solidFill>
                          <a:latin typeface="Calibri"/>
                        </a:rPr>
                        <a:t>Author(s) · Year</a:t>
                      </a:r>
                    </a:p>
                  </a:txBody>
                  <a:tcPr marT="36000" marB="36000" anchor="ctr">
                    <a:solidFill>
                      <a:srgbClr val="141B34"/>
                    </a:solidFill>
                  </a:tcPr>
                </a:tc>
                <a:tc>
                  <a:txBody>
                    <a:bodyPr/>
                    <a:lstStyle/>
                    <a:p>
                      <a:pPr algn="l"/>
                      <a:r>
                        <a:rPr sz="1100" b="1" i="0">
                          <a:solidFill>
                            <a:srgbClr val="FFFFFF"/>
                          </a:solidFill>
                          <a:latin typeface="Calibri"/>
                        </a:rPr>
                        <a:t>Summary</a:t>
                      </a:r>
                    </a:p>
                  </a:txBody>
                  <a:tcPr marT="36000" marB="36000" anchor="ctr">
                    <a:solidFill>
                      <a:srgbClr val="141B34"/>
                    </a:solidFill>
                  </a:tcPr>
                </a:tc>
                <a:extLst>
                  <a:ext uri="{0D108BD9-81ED-4DB2-BD59-A6C34878D82A}">
                    <a16:rowId xmlns:a16="http://schemas.microsoft.com/office/drawing/2014/main" val="10000"/>
                  </a:ext>
                </a:extLst>
              </a:tr>
              <a:tr h="494000">
                <a:tc>
                  <a:txBody>
                    <a:bodyPr/>
                    <a:lstStyle/>
                    <a:p>
                      <a:pPr algn="l"/>
                      <a:r>
                        <a:rPr sz="950" b="1" i="0">
                          <a:solidFill>
                            <a:srgbClr val="141B34"/>
                          </a:solidFill>
                          <a:latin typeface="Calibri"/>
                        </a:rPr>
                        <a:t>1. Addressing the Challenges of Modern DNS: A Comprehensive Tutorial</a:t>
                      </a:r>
                    </a:p>
                  </a:txBody>
                  <a:tcPr marT="36000" marB="36000" anchor="ctr">
                    <a:solidFill>
                      <a:srgbClr val="FFFFFF"/>
                    </a:solidFill>
                  </a:tcPr>
                </a:tc>
                <a:tc>
                  <a:txBody>
                    <a:bodyPr/>
                    <a:lstStyle/>
                    <a:p>
                      <a:pPr algn="l"/>
                      <a:r>
                        <a:rPr sz="900" b="0" i="1">
                          <a:solidFill>
                            <a:srgbClr val="2F5FDB"/>
                          </a:solidFill>
                          <a:latin typeface="Calibri"/>
                        </a:rPr>
                        <a:t>van der Toorn, van Rijswijk-Deij, Sperotto · 2022</a:t>
                      </a:r>
                    </a:p>
                  </a:txBody>
                  <a:tcPr marT="36000" marB="36000" anchor="ctr">
                    <a:solidFill>
                      <a:srgbClr val="FFFFFF"/>
                    </a:solidFill>
                  </a:tcPr>
                </a:tc>
                <a:tc>
                  <a:txBody>
                    <a:bodyPr/>
                    <a:lstStyle/>
                    <a:p>
                      <a:pPr algn="l"/>
                      <a:r>
                        <a:rPr sz="900" b="0" i="0">
                          <a:solidFill>
                            <a:srgbClr val="5B6472"/>
                          </a:solidFill>
                          <a:latin typeface="Calibri"/>
                        </a:rPr>
                        <a:t>Reviews DNS architecture, resolution, caching &amp; security challenges.</a:t>
                      </a:r>
                    </a:p>
                  </a:txBody>
                  <a:tcPr marT="36000" marB="36000" anchor="ctr">
                    <a:solidFill>
                      <a:srgbClr val="FFFFFF"/>
                    </a:solidFill>
                  </a:tcPr>
                </a:tc>
                <a:extLst>
                  <a:ext uri="{0D108BD9-81ED-4DB2-BD59-A6C34878D82A}">
                    <a16:rowId xmlns:a16="http://schemas.microsoft.com/office/drawing/2014/main" val="10001"/>
                  </a:ext>
                </a:extLst>
              </a:tr>
              <a:tr h="494000">
                <a:tc>
                  <a:txBody>
                    <a:bodyPr/>
                    <a:lstStyle/>
                    <a:p>
                      <a:pPr algn="l"/>
                      <a:r>
                        <a:rPr sz="950" b="1" i="0">
                          <a:solidFill>
                            <a:srgbClr val="141B34"/>
                          </a:solidFill>
                          <a:latin typeface="Calibri"/>
                        </a:rPr>
                        <a:t>2. A Survey on DNS Encryption: Development, Malware Misuse, and Inference Techniques</a:t>
                      </a:r>
                    </a:p>
                  </a:txBody>
                  <a:tcPr marT="36000" marB="36000" anchor="ctr">
                    <a:solidFill>
                      <a:srgbClr val="F5F7FC"/>
                    </a:solidFill>
                  </a:tcPr>
                </a:tc>
                <a:tc>
                  <a:txBody>
                    <a:bodyPr/>
                    <a:lstStyle/>
                    <a:p>
                      <a:pPr algn="l"/>
                      <a:r>
                        <a:rPr sz="900" b="0" i="1">
                          <a:solidFill>
                            <a:srgbClr val="2F5FDB"/>
                          </a:solidFill>
                          <a:latin typeface="Calibri"/>
                        </a:rPr>
                        <a:t>Lyu, Gharakheili, Sivaraman · 2022</a:t>
                      </a:r>
                    </a:p>
                  </a:txBody>
                  <a:tcPr marT="36000" marB="36000" anchor="ctr">
                    <a:solidFill>
                      <a:srgbClr val="F5F7FC"/>
                    </a:solidFill>
                  </a:tcPr>
                </a:tc>
                <a:tc>
                  <a:txBody>
                    <a:bodyPr/>
                    <a:lstStyle/>
                    <a:p>
                      <a:pPr algn="l"/>
                      <a:r>
                        <a:rPr sz="900" b="0" i="0">
                          <a:solidFill>
                            <a:srgbClr val="5B6472"/>
                          </a:solidFill>
                          <a:latin typeface="Calibri"/>
                        </a:rPr>
                        <a:t>Surveys DoH/DoT/DoQ; encrypted traffic hard to inspect.</a:t>
                      </a:r>
                    </a:p>
                  </a:txBody>
                  <a:tcPr marT="36000" marB="36000" anchor="ctr">
                    <a:solidFill>
                      <a:srgbClr val="F5F7FC"/>
                    </a:solidFill>
                  </a:tcPr>
                </a:tc>
                <a:extLst>
                  <a:ext uri="{0D108BD9-81ED-4DB2-BD59-A6C34878D82A}">
                    <a16:rowId xmlns:a16="http://schemas.microsoft.com/office/drawing/2014/main" val="10002"/>
                  </a:ext>
                </a:extLst>
              </a:tr>
              <a:tr h="494000">
                <a:tc>
                  <a:txBody>
                    <a:bodyPr/>
                    <a:lstStyle/>
                    <a:p>
                      <a:pPr algn="l"/>
                      <a:r>
                        <a:rPr sz="950" b="1" i="0">
                          <a:solidFill>
                            <a:srgbClr val="141B34"/>
                          </a:solidFill>
                          <a:latin typeface="Calibri"/>
                        </a:rPr>
                        <a:t>3. Security of the Domain Name System (DNS)</a:t>
                      </a:r>
                    </a:p>
                  </a:txBody>
                  <a:tcPr marT="36000" marB="36000" anchor="ctr">
                    <a:solidFill>
                      <a:srgbClr val="FFFFFF"/>
                    </a:solidFill>
                  </a:tcPr>
                </a:tc>
                <a:tc>
                  <a:txBody>
                    <a:bodyPr/>
                    <a:lstStyle/>
                    <a:p>
                      <a:pPr algn="l"/>
                      <a:r>
                        <a:rPr sz="900" b="0" i="1">
                          <a:solidFill>
                            <a:srgbClr val="2F5FDB"/>
                          </a:solidFill>
                          <a:latin typeface="Calibri"/>
                        </a:rPr>
                        <a:t>OECD · 2022</a:t>
                      </a:r>
                    </a:p>
                  </a:txBody>
                  <a:tcPr marT="36000" marB="36000" anchor="ctr">
                    <a:solidFill>
                      <a:srgbClr val="FFFFFF"/>
                    </a:solidFill>
                  </a:tcPr>
                </a:tc>
                <a:tc>
                  <a:txBody>
                    <a:bodyPr/>
                    <a:lstStyle/>
                    <a:p>
                      <a:pPr algn="l"/>
                      <a:r>
                        <a:rPr sz="900" b="0" i="0">
                          <a:solidFill>
                            <a:srgbClr val="5B6472"/>
                          </a:solidFill>
                          <a:latin typeface="Calibri"/>
                        </a:rPr>
                        <a:t>Analyzes DNS security threats &amp; deployment practices.</a:t>
                      </a:r>
                    </a:p>
                  </a:txBody>
                  <a:tcPr marT="36000" marB="36000" anchor="ctr">
                    <a:solidFill>
                      <a:srgbClr val="FFFFFF"/>
                    </a:solidFill>
                  </a:tcPr>
                </a:tc>
                <a:extLst>
                  <a:ext uri="{0D108BD9-81ED-4DB2-BD59-A6C34878D82A}">
                    <a16:rowId xmlns:a16="http://schemas.microsoft.com/office/drawing/2014/main" val="10003"/>
                  </a:ext>
                </a:extLst>
              </a:tr>
              <a:tr h="494000">
                <a:tc>
                  <a:txBody>
                    <a:bodyPr/>
                    <a:lstStyle/>
                    <a:p>
                      <a:pPr algn="l"/>
                      <a:r>
                        <a:rPr sz="950" b="1" i="0">
                          <a:solidFill>
                            <a:srgbClr val="141B34"/>
                          </a:solidFill>
                          <a:latin typeface="Calibri"/>
                        </a:rPr>
                        <a:t>4. Study on Domain Name System (DNS) Abuse: Technical Report</a:t>
                      </a:r>
                    </a:p>
                  </a:txBody>
                  <a:tcPr marT="36000" marB="36000" anchor="ctr">
                    <a:solidFill>
                      <a:srgbClr val="F5F7FC"/>
                    </a:solidFill>
                  </a:tcPr>
                </a:tc>
                <a:tc>
                  <a:txBody>
                    <a:bodyPr/>
                    <a:lstStyle/>
                    <a:p>
                      <a:pPr algn="l"/>
                      <a:r>
                        <a:rPr sz="900" b="0" i="1">
                          <a:solidFill>
                            <a:srgbClr val="2F5FDB"/>
                          </a:solidFill>
                          <a:latin typeface="Calibri"/>
                        </a:rPr>
                        <a:t>Bayer et al. · 2022</a:t>
                      </a:r>
                    </a:p>
                  </a:txBody>
                  <a:tcPr marT="36000" marB="36000" anchor="ctr">
                    <a:solidFill>
                      <a:srgbClr val="F5F7FC"/>
                    </a:solidFill>
                  </a:tcPr>
                </a:tc>
                <a:tc>
                  <a:txBody>
                    <a:bodyPr/>
                    <a:lstStyle/>
                    <a:p>
                      <a:pPr algn="l"/>
                      <a:r>
                        <a:rPr sz="900" b="0" i="0">
                          <a:solidFill>
                            <a:srgbClr val="5B6472"/>
                          </a:solidFill>
                          <a:latin typeface="Calibri"/>
                        </a:rPr>
                        <a:t>Examines DNS abuse types: phishing, malware, domain misuse.</a:t>
                      </a:r>
                    </a:p>
                  </a:txBody>
                  <a:tcPr marT="36000" marB="36000" anchor="ctr">
                    <a:solidFill>
                      <a:srgbClr val="F5F7FC"/>
                    </a:solidFill>
                  </a:tcPr>
                </a:tc>
                <a:extLst>
                  <a:ext uri="{0D108BD9-81ED-4DB2-BD59-A6C34878D82A}">
                    <a16:rowId xmlns:a16="http://schemas.microsoft.com/office/drawing/2014/main" val="10004"/>
                  </a:ext>
                </a:extLst>
              </a:tr>
              <a:tr h="494000">
                <a:tc>
                  <a:txBody>
                    <a:bodyPr/>
                    <a:lstStyle/>
                    <a:p>
                      <a:pPr algn="l"/>
                      <a:r>
                        <a:rPr sz="950" b="1" i="0">
                          <a:solidFill>
                            <a:srgbClr val="141B34"/>
                          </a:solidFill>
                          <a:latin typeface="Calibri"/>
                        </a:rPr>
                        <a:t>5. Domain Name System Security and Privacy: A Contemporary Survey</a:t>
                      </a:r>
                    </a:p>
                  </a:txBody>
                  <a:tcPr marT="36000" marB="36000" anchor="ctr">
                    <a:solidFill>
                      <a:srgbClr val="FFFFFF"/>
                    </a:solidFill>
                  </a:tcPr>
                </a:tc>
                <a:tc>
                  <a:txBody>
                    <a:bodyPr/>
                    <a:lstStyle/>
                    <a:p>
                      <a:pPr algn="l"/>
                      <a:r>
                        <a:rPr sz="900" b="0" i="1">
                          <a:solidFill>
                            <a:srgbClr val="2F5FDB"/>
                          </a:solidFill>
                          <a:latin typeface="Calibri"/>
                        </a:rPr>
                        <a:t>Khormali, Park, Alasmary, Anwar, Mohaisen · 2021</a:t>
                      </a:r>
                    </a:p>
                  </a:txBody>
                  <a:tcPr marT="36000" marB="36000" anchor="ctr">
                    <a:solidFill>
                      <a:srgbClr val="FFFFFF"/>
                    </a:solidFill>
                  </a:tcPr>
                </a:tc>
                <a:tc>
                  <a:txBody>
                    <a:bodyPr/>
                    <a:lstStyle/>
                    <a:p>
                      <a:pPr algn="l"/>
                      <a:r>
                        <a:rPr sz="900" b="0" i="0">
                          <a:solidFill>
                            <a:srgbClr val="5B6472"/>
                          </a:solidFill>
                          <a:latin typeface="Calibri"/>
                        </a:rPr>
                        <a:t>Surveys DNS vulnerabilities, attacks &amp; security mechanisms.</a:t>
                      </a:r>
                    </a:p>
                  </a:txBody>
                  <a:tcPr marT="36000" marB="36000" anchor="ctr">
                    <a:solidFill>
                      <a:srgbClr val="FFFFFF"/>
                    </a:solidFill>
                  </a:tcPr>
                </a:tc>
                <a:extLst>
                  <a:ext uri="{0D108BD9-81ED-4DB2-BD59-A6C34878D82A}">
                    <a16:rowId xmlns:a16="http://schemas.microsoft.com/office/drawing/2014/main" val="10005"/>
                  </a:ext>
                </a:extLst>
              </a:tr>
              <a:tr h="494000">
                <a:tc>
                  <a:txBody>
                    <a:bodyPr/>
                    <a:lstStyle/>
                    <a:p>
                      <a:pPr algn="l"/>
                      <a:r>
                        <a:rPr sz="950" b="1" i="0">
                          <a:solidFill>
                            <a:srgbClr val="141B34"/>
                          </a:solidFill>
                          <a:latin typeface="Calibri"/>
                        </a:rPr>
                        <a:t>6. Secure Domain Name System (DNS) Deployment Guide</a:t>
                      </a:r>
                    </a:p>
                  </a:txBody>
                  <a:tcPr marT="36000" marB="36000" anchor="ctr">
                    <a:solidFill>
                      <a:srgbClr val="F5F7FC"/>
                    </a:solidFill>
                  </a:tcPr>
                </a:tc>
                <a:tc>
                  <a:txBody>
                    <a:bodyPr/>
                    <a:lstStyle/>
                    <a:p>
                      <a:pPr algn="l"/>
                      <a:r>
                        <a:rPr sz="900" b="0" i="1">
                          <a:solidFill>
                            <a:srgbClr val="2F5FDB"/>
                          </a:solidFill>
                          <a:latin typeface="Calibri"/>
                        </a:rPr>
                        <a:t>NIST · 2021</a:t>
                      </a:r>
                    </a:p>
                  </a:txBody>
                  <a:tcPr marT="36000" marB="36000" anchor="ctr">
                    <a:solidFill>
                      <a:srgbClr val="F5F7FC"/>
                    </a:solidFill>
                  </a:tcPr>
                </a:tc>
                <a:tc>
                  <a:txBody>
                    <a:bodyPr/>
                    <a:lstStyle/>
                    <a:p>
                      <a:pPr algn="l"/>
                      <a:r>
                        <a:rPr sz="900" b="0" i="0">
                          <a:solidFill>
                            <a:srgbClr val="5B6472"/>
                          </a:solidFill>
                          <a:latin typeface="Calibri"/>
                        </a:rPr>
                        <a:t>Best practices for secure DNS deployment using DNSSEC.</a:t>
                      </a:r>
                    </a:p>
                  </a:txBody>
                  <a:tcPr marT="36000" marB="36000" anchor="ctr">
                    <a:solidFill>
                      <a:srgbClr val="F5F7FC"/>
                    </a:solidFill>
                  </a:tcPr>
                </a:tc>
                <a:extLst>
                  <a:ext uri="{0D108BD9-81ED-4DB2-BD59-A6C34878D82A}">
                    <a16:rowId xmlns:a16="http://schemas.microsoft.com/office/drawing/2014/main" val="10006"/>
                  </a:ext>
                </a:extLst>
              </a:tr>
              <a:tr h="494000">
                <a:tc>
                  <a:txBody>
                    <a:bodyPr/>
                    <a:lstStyle/>
                    <a:p>
                      <a:pPr algn="l"/>
                      <a:r>
                        <a:rPr sz="950" b="1" i="0">
                          <a:solidFill>
                            <a:srgbClr val="141B34"/>
                          </a:solidFill>
                          <a:latin typeface="Calibri"/>
                        </a:rPr>
                        <a:t>7. Secure and Efficient DNS Resolution in Cloud Environments</a:t>
                      </a:r>
                    </a:p>
                  </a:txBody>
                  <a:tcPr marT="36000" marB="36000" anchor="ctr">
                    <a:solidFill>
                      <a:srgbClr val="FFFFFF"/>
                    </a:solidFill>
                  </a:tcPr>
                </a:tc>
                <a:tc>
                  <a:txBody>
                    <a:bodyPr/>
                    <a:lstStyle/>
                    <a:p>
                      <a:pPr algn="l"/>
                      <a:r>
                        <a:rPr sz="900" b="0" i="1">
                          <a:solidFill>
                            <a:srgbClr val="2F5FDB"/>
                          </a:solidFill>
                          <a:latin typeface="Calibri"/>
                        </a:rPr>
                        <a:t>Various Researchers · 2023</a:t>
                      </a:r>
                    </a:p>
                  </a:txBody>
                  <a:tcPr marT="36000" marB="36000" anchor="ctr">
                    <a:solidFill>
                      <a:srgbClr val="FFFFFF"/>
                    </a:solidFill>
                  </a:tcPr>
                </a:tc>
                <a:tc>
                  <a:txBody>
                    <a:bodyPr/>
                    <a:lstStyle/>
                    <a:p>
                      <a:pPr algn="l"/>
                      <a:r>
                        <a:rPr sz="900" b="0" i="0">
                          <a:solidFill>
                            <a:srgbClr val="5B6472"/>
                          </a:solidFill>
                          <a:latin typeface="Calibri"/>
                        </a:rPr>
                        <a:t>Optimizes cloud DNS resolvers for scalability &amp; speed.</a:t>
                      </a:r>
                    </a:p>
                  </a:txBody>
                  <a:tcPr marT="36000" marB="36000" anchor="ctr">
                    <a:solidFill>
                      <a:srgbClr val="FFFFFF"/>
                    </a:solidFill>
                  </a:tcPr>
                </a:tc>
                <a:extLst>
                  <a:ext uri="{0D108BD9-81ED-4DB2-BD59-A6C34878D82A}">
                    <a16:rowId xmlns:a16="http://schemas.microsoft.com/office/drawing/2014/main" val="10007"/>
                  </a:ext>
                </a:extLst>
              </a:tr>
              <a:tr h="494000">
                <a:tc>
                  <a:txBody>
                    <a:bodyPr/>
                    <a:lstStyle/>
                    <a:p>
                      <a:pPr algn="l"/>
                      <a:r>
                        <a:rPr sz="950" b="1" i="0">
                          <a:solidFill>
                            <a:srgbClr val="141B34"/>
                          </a:solidFill>
                          <a:latin typeface="Calibri"/>
                        </a:rPr>
                        <a:t>8. DNS Performance Optimization Using Intelligent Caching Techniques</a:t>
                      </a:r>
                    </a:p>
                  </a:txBody>
                  <a:tcPr marT="36000" marB="36000" anchor="ctr">
                    <a:solidFill>
                      <a:srgbClr val="F5F7FC"/>
                    </a:solidFill>
                  </a:tcPr>
                </a:tc>
                <a:tc>
                  <a:txBody>
                    <a:bodyPr/>
                    <a:lstStyle/>
                    <a:p>
                      <a:pPr algn="l"/>
                      <a:r>
                        <a:rPr sz="900" b="0" i="1">
                          <a:solidFill>
                            <a:srgbClr val="2F5FDB"/>
                          </a:solidFill>
                          <a:latin typeface="Calibri"/>
                        </a:rPr>
                        <a:t>Various Researchers · 2023</a:t>
                      </a:r>
                    </a:p>
                  </a:txBody>
                  <a:tcPr marT="36000" marB="36000" anchor="ctr">
                    <a:solidFill>
                      <a:srgbClr val="F5F7FC"/>
                    </a:solidFill>
                  </a:tcPr>
                </a:tc>
                <a:tc>
                  <a:txBody>
                    <a:bodyPr/>
                    <a:lstStyle/>
                    <a:p>
                      <a:pPr algn="l"/>
                      <a:r>
                        <a:rPr sz="900" b="0" i="0">
                          <a:solidFill>
                            <a:srgbClr val="5B6472"/>
                          </a:solidFill>
                          <a:latin typeface="Calibri"/>
                        </a:rPr>
                        <a:t>Studies adaptive caching &amp; TTL to cut lookup delay.</a:t>
                      </a:r>
                    </a:p>
                  </a:txBody>
                  <a:tcPr marT="36000" marB="36000" anchor="ctr">
                    <a:solidFill>
                      <a:srgbClr val="F5F7FC"/>
                    </a:solidFill>
                  </a:tcPr>
                </a:tc>
                <a:extLst>
                  <a:ext uri="{0D108BD9-81ED-4DB2-BD59-A6C34878D82A}">
                    <a16:rowId xmlns:a16="http://schemas.microsoft.com/office/drawing/2014/main" val="10008"/>
                  </a:ext>
                </a:extLst>
              </a:tr>
              <a:tr h="494000">
                <a:tc>
                  <a:txBody>
                    <a:bodyPr/>
                    <a:lstStyle/>
                    <a:p>
                      <a:pPr algn="l"/>
                      <a:r>
                        <a:rPr sz="950" b="1" i="0">
                          <a:solidFill>
                            <a:srgbClr val="141B34"/>
                          </a:solidFill>
                          <a:latin typeface="Calibri"/>
                        </a:rPr>
                        <a:t>9. Survey on DNS Recursive Resolution Service Security Technology</a:t>
                      </a:r>
                    </a:p>
                  </a:txBody>
                  <a:tcPr marT="36000" marB="36000" anchor="ctr">
                    <a:solidFill>
                      <a:srgbClr val="FFFFFF"/>
                    </a:solidFill>
                  </a:tcPr>
                </a:tc>
                <a:tc>
                  <a:txBody>
                    <a:bodyPr/>
                    <a:lstStyle/>
                    <a:p>
                      <a:pPr algn="l"/>
                      <a:r>
                        <a:rPr sz="900" b="0" i="1">
                          <a:solidFill>
                            <a:srgbClr val="2F5FDB"/>
                          </a:solidFill>
                          <a:latin typeface="Calibri"/>
                        </a:rPr>
                        <a:t>Li, Wu, Wang, Li · 2025</a:t>
                      </a:r>
                    </a:p>
                  </a:txBody>
                  <a:tcPr marT="36000" marB="36000" anchor="ctr">
                    <a:solidFill>
                      <a:srgbClr val="FFFFFF"/>
                    </a:solidFill>
                  </a:tcPr>
                </a:tc>
                <a:tc>
                  <a:txBody>
                    <a:bodyPr/>
                    <a:lstStyle/>
                    <a:p>
                      <a:pPr algn="l"/>
                      <a:r>
                        <a:rPr sz="900" b="0" i="0">
                          <a:solidFill>
                            <a:srgbClr val="5B6472"/>
                          </a:solidFill>
                          <a:latin typeface="Calibri"/>
                        </a:rPr>
                        <a:t>Reviews recursive resolver security threats &amp; defenses.</a:t>
                      </a:r>
                    </a:p>
                  </a:txBody>
                  <a:tcPr marT="36000" marB="36000" anchor="ctr">
                    <a:solidFill>
                      <a:srgbClr val="FFFFFF"/>
                    </a:solidFill>
                  </a:tcPr>
                </a:tc>
                <a:extLst>
                  <a:ext uri="{0D108BD9-81ED-4DB2-BD59-A6C34878D82A}">
                    <a16:rowId xmlns:a16="http://schemas.microsoft.com/office/drawing/2014/main" val="10009"/>
                  </a:ext>
                </a:extLst>
              </a:tr>
              <a:tr h="494000">
                <a:tc>
                  <a:txBody>
                    <a:bodyPr/>
                    <a:lstStyle/>
                    <a:p>
                      <a:pPr algn="l"/>
                      <a:r>
                        <a:rPr sz="950" b="1" i="0">
                          <a:solidFill>
                            <a:srgbClr val="141B34"/>
                          </a:solidFill>
                          <a:latin typeface="Calibri"/>
                        </a:rPr>
                        <a:t>10. A Survey and Evaluation Framework for Secure DNS Resolution</a:t>
                      </a:r>
                    </a:p>
                  </a:txBody>
                  <a:tcPr marT="36000" marB="36000" anchor="ctr">
                    <a:solidFill>
                      <a:srgbClr val="F5F7FC"/>
                    </a:solidFill>
                  </a:tcPr>
                </a:tc>
                <a:tc>
                  <a:txBody>
                    <a:bodyPr/>
                    <a:lstStyle/>
                    <a:p>
                      <a:pPr algn="l"/>
                      <a:r>
                        <a:rPr sz="900" b="0" i="1">
                          <a:solidFill>
                            <a:srgbClr val="2F5FDB"/>
                          </a:solidFill>
                          <a:latin typeface="Calibri"/>
                        </a:rPr>
                        <a:t>Sadeghi Jahromi, Abdou, van Oorschot · 2025</a:t>
                      </a:r>
                    </a:p>
                  </a:txBody>
                  <a:tcPr marT="36000" marB="36000" anchor="ctr">
                    <a:solidFill>
                      <a:srgbClr val="F5F7FC"/>
                    </a:solidFill>
                  </a:tcPr>
                </a:tc>
                <a:tc>
                  <a:txBody>
                    <a:bodyPr/>
                    <a:lstStyle/>
                    <a:p>
                      <a:pPr algn="l"/>
                      <a:r>
                        <a:rPr sz="900" b="0" i="0">
                          <a:solidFill>
                            <a:srgbClr val="5B6472"/>
                          </a:solidFill>
                          <a:latin typeface="Calibri"/>
                        </a:rPr>
                        <a:t>Compares secure DNS resolution methods &amp; frameworks.</a:t>
                      </a:r>
                    </a:p>
                  </a:txBody>
                  <a:tcPr marT="36000" marB="36000" anchor="ctr">
                    <a:solidFill>
                      <a:srgbClr val="F5F7FC"/>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BACKGROUND</a:t>
            </a:r>
            <a:endParaRPr lang="en-US" sz="1200" dirty="0"/>
          </a:p>
        </p:txBody>
      </p:sp>
      <p:sp>
        <p:nvSpPr>
          <p:cNvPr id="3" name="Text 1"/>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Existing System</a:t>
            </a:r>
            <a:endParaRPr lang="en-US" sz="2800" dirty="0"/>
          </a:p>
        </p:txBody>
      </p:sp>
      <p:sp>
        <p:nvSpPr>
          <p:cNvPr id="4" name="Text 2"/>
          <p:cNvSpPr/>
          <p:nvPr/>
        </p:nvSpPr>
        <p:spPr>
          <a:xfrm>
            <a:off x="548640" y="1371600"/>
            <a:ext cx="11064240" cy="1097280"/>
          </a:xfrm>
          <a:prstGeom prst="rect">
            <a:avLst/>
          </a:prstGeom>
          <a:noFill/>
          <a:ln/>
        </p:spPr>
        <p:txBody>
          <a:bodyPr wrap="square" rtlCol="0" anchor="ctr"/>
          <a:lstStyle/>
          <a:p>
            <a:pPr marL="0" indent="0">
              <a:lnSpc>
                <a:spcPct val="130000"/>
              </a:lnSpc>
              <a:buNone/>
            </a:pPr>
            <a:r>
              <a:rPr lang="en-US" sz="1500" dirty="0">
                <a:solidFill>
                  <a:srgbClr val="1A1A2E"/>
                </a:solidFill>
                <a:latin typeface="Calibri" pitchFamily="34" charset="0"/>
                <a:ea typeface="Calibri" pitchFamily="34" charset="-122"/>
                <a:cs typeface="Calibri" pitchFamily="34" charset="-120"/>
              </a:rPr>
              <a:t>The current DNS is a client–server system that resolves domain names to IP addresses. A query travels up a hierarchy — Root, TLD, and Authoritative servers — until the correct address is found, with caching used along the way to improve performance.</a:t>
            </a:r>
            <a:endParaRPr lang="en-US" sz="1500" dirty="0"/>
          </a:p>
        </p:txBody>
      </p:sp>
      <p:sp>
        <p:nvSpPr>
          <p:cNvPr id="5" name="Text 3"/>
          <p:cNvSpPr/>
          <p:nvPr/>
        </p:nvSpPr>
        <p:spPr>
          <a:xfrm>
            <a:off x="548640" y="2697480"/>
            <a:ext cx="5486400" cy="320040"/>
          </a:xfrm>
          <a:prstGeom prst="rect">
            <a:avLst/>
          </a:prstGeom>
          <a:noFill/>
          <a:ln/>
        </p:spPr>
        <p:txBody>
          <a:bodyPr wrap="square" rtlCol="0" anchor="ctr"/>
          <a:lstStyle/>
          <a:p>
            <a:pPr marL="0" indent="0">
              <a:buNone/>
            </a:pPr>
            <a:r>
              <a:rPr lang="en-US" sz="1300" b="1" dirty="0">
                <a:solidFill>
                  <a:srgbClr val="2E5EAA"/>
                </a:solidFill>
                <a:latin typeface="Calibri" pitchFamily="34" charset="0"/>
                <a:ea typeface="Calibri" pitchFamily="34" charset="-122"/>
                <a:cs typeface="Calibri" pitchFamily="34" charset="-120"/>
              </a:rPr>
              <a:t>LIMITATIONS</a:t>
            </a:r>
            <a:endParaRPr lang="en-US" sz="1300" dirty="0"/>
          </a:p>
        </p:txBody>
      </p:sp>
      <p:sp>
        <p:nvSpPr>
          <p:cNvPr id="6" name="Shape 4"/>
          <p:cNvSpPr/>
          <p:nvPr/>
        </p:nvSpPr>
        <p:spPr>
          <a:xfrm>
            <a:off x="548640" y="3200400"/>
            <a:ext cx="82296" cy="82296"/>
          </a:xfrm>
          <a:prstGeom prst="rect">
            <a:avLst/>
          </a:prstGeom>
          <a:solidFill>
            <a:srgbClr val="2E5EAA"/>
          </a:solidFill>
          <a:ln/>
        </p:spPr>
      </p:sp>
      <p:sp>
        <p:nvSpPr>
          <p:cNvPr id="7" name="Text 5"/>
          <p:cNvSpPr/>
          <p:nvPr/>
        </p:nvSpPr>
        <p:spPr>
          <a:xfrm>
            <a:off x="822960" y="3108960"/>
            <a:ext cx="10607040" cy="4572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Complex, multi-tier hierarchy of servers</a:t>
            </a:r>
            <a:endParaRPr lang="en-US" sz="1400" dirty="0"/>
          </a:p>
        </p:txBody>
      </p:sp>
      <p:sp>
        <p:nvSpPr>
          <p:cNvPr id="8" name="Shape 6"/>
          <p:cNvSpPr/>
          <p:nvPr/>
        </p:nvSpPr>
        <p:spPr>
          <a:xfrm>
            <a:off x="548640" y="3776472"/>
            <a:ext cx="82296" cy="82296"/>
          </a:xfrm>
          <a:prstGeom prst="rect">
            <a:avLst/>
          </a:prstGeom>
          <a:solidFill>
            <a:srgbClr val="2E5EAA"/>
          </a:solidFill>
          <a:ln/>
        </p:spPr>
      </p:sp>
      <p:sp>
        <p:nvSpPr>
          <p:cNvPr id="9" name="Text 7"/>
          <p:cNvSpPr/>
          <p:nvPr/>
        </p:nvSpPr>
        <p:spPr>
          <a:xfrm>
            <a:off x="822960" y="3685032"/>
            <a:ext cx="10607040" cy="4572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Queries are unencrypted — vulnerable to spoofing and eavesdropping</a:t>
            </a:r>
            <a:endParaRPr lang="en-US" sz="1400" dirty="0"/>
          </a:p>
        </p:txBody>
      </p:sp>
      <p:sp>
        <p:nvSpPr>
          <p:cNvPr id="10" name="Shape 8"/>
          <p:cNvSpPr/>
          <p:nvPr/>
        </p:nvSpPr>
        <p:spPr>
          <a:xfrm>
            <a:off x="548640" y="4352544"/>
            <a:ext cx="82296" cy="82296"/>
          </a:xfrm>
          <a:prstGeom prst="rect">
            <a:avLst/>
          </a:prstGeom>
          <a:solidFill>
            <a:srgbClr val="2E5EAA"/>
          </a:solidFill>
          <a:ln/>
        </p:spPr>
      </p:sp>
      <p:sp>
        <p:nvSpPr>
          <p:cNvPr id="11" name="Text 9"/>
          <p:cNvSpPr/>
          <p:nvPr/>
        </p:nvSpPr>
        <p:spPr>
          <a:xfrm>
            <a:off x="822960" y="4261104"/>
            <a:ext cx="10607040" cy="4572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Latency when a record isn't in the local cache</a:t>
            </a:r>
            <a:endParaRPr lang="en-US" sz="1400" dirty="0"/>
          </a:p>
        </p:txBody>
      </p:sp>
      <p:sp>
        <p:nvSpPr>
          <p:cNvPr id="12" name="Shape 10"/>
          <p:cNvSpPr/>
          <p:nvPr/>
        </p:nvSpPr>
        <p:spPr>
          <a:xfrm>
            <a:off x="548640" y="4928616"/>
            <a:ext cx="82296" cy="82296"/>
          </a:xfrm>
          <a:prstGeom prst="rect">
            <a:avLst/>
          </a:prstGeom>
          <a:solidFill>
            <a:srgbClr val="2E5EAA"/>
          </a:solidFill>
          <a:ln/>
        </p:spPr>
      </p:sp>
      <p:sp>
        <p:nvSpPr>
          <p:cNvPr id="13" name="Text 11"/>
          <p:cNvSpPr/>
          <p:nvPr/>
        </p:nvSpPr>
        <p:spPr>
          <a:xfrm>
            <a:off x="822960" y="4837176"/>
            <a:ext cx="10607040" cy="4572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Global DNS database is hard to maintain and manage</a:t>
            </a:r>
            <a:endParaRPr lang="en-US" sz="1400" dirty="0"/>
          </a:p>
        </p:txBody>
      </p:sp>
      <p:sp>
        <p:nvSpPr>
          <p:cNvPr id="14" name="Shape 12"/>
          <p:cNvSpPr/>
          <p:nvPr/>
        </p:nvSpPr>
        <p:spPr>
          <a:xfrm>
            <a:off x="548640" y="5504688"/>
            <a:ext cx="82296" cy="82296"/>
          </a:xfrm>
          <a:prstGeom prst="rect">
            <a:avLst/>
          </a:prstGeom>
          <a:solidFill>
            <a:srgbClr val="2E5EAA"/>
          </a:solidFill>
          <a:ln/>
        </p:spPr>
      </p:sp>
      <p:sp>
        <p:nvSpPr>
          <p:cNvPr id="15" name="Text 13"/>
          <p:cNvSpPr/>
          <p:nvPr/>
        </p:nvSpPr>
        <p:spPr>
          <a:xfrm>
            <a:off x="822960" y="5413248"/>
            <a:ext cx="10607040" cy="4572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Too heavy an architecture for small academic projects</a:t>
            </a:r>
            <a:endParaRPr lang="en-US" sz="1400" dirty="0"/>
          </a:p>
        </p:txBody>
      </p:sp>
      <p:sp>
        <p:nvSpPr>
          <p:cNvPr id="16" name="Text 14"/>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RESEARCH GAP  ·  1 OF 2</a:t>
            </a:r>
          </a:p>
        </p:txBody>
      </p:sp>
      <p:sp>
        <p:nvSpPr>
          <p:cNvPr id="3" name="Text 1"/>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Security &amp; Privacy Loopholes</a:t>
            </a:r>
            <a:endParaRPr lang="en-US" sz="2800" dirty="0"/>
          </a:p>
        </p:txBody>
      </p:sp>
      <p:sp>
        <p:nvSpPr>
          <p:cNvPr id="4" name="Shape 2"/>
          <p:cNvSpPr/>
          <p:nvPr/>
        </p:nvSpPr>
        <p:spPr>
          <a:xfrm>
            <a:off x="548640" y="1417320"/>
            <a:ext cx="11064240" cy="1417320"/>
          </a:xfrm>
          <a:prstGeom prst="roundRect">
            <a:avLst>
              <a:gd name="adj" fmla="val 5161"/>
            </a:avLst>
          </a:prstGeom>
          <a:solidFill>
            <a:srgbClr val="EEF2FA"/>
          </a:solidFill>
          <a:ln/>
        </p:spPr>
      </p:sp>
      <p:sp>
        <p:nvSpPr>
          <p:cNvPr id="5" name="Text 3"/>
          <p:cNvSpPr/>
          <p:nvPr/>
        </p:nvSpPr>
        <p:spPr>
          <a:xfrm>
            <a:off x="822960" y="1545336"/>
            <a:ext cx="10515600" cy="36576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Encrypted DNS vs. Corporate Visibility</a:t>
            </a:r>
            <a:endParaRPr lang="en-US" sz="1500" dirty="0"/>
          </a:p>
        </p:txBody>
      </p:sp>
      <p:sp>
        <p:nvSpPr>
          <p:cNvPr id="6" name="Text 4"/>
          <p:cNvSpPr/>
          <p:nvPr/>
        </p:nvSpPr>
        <p:spPr>
          <a:xfrm>
            <a:off x="822960" y="1929384"/>
            <a:ext cx="10515600" cy="822960"/>
          </a:xfrm>
          <a:prstGeom prst="rect">
            <a:avLst/>
          </a:prstGeom>
          <a:noFill/>
          <a:ln/>
        </p:spPr>
        <p:txBody>
          <a:bodyPr wrap="square" rtlCol="0" anchor="ctr"/>
          <a:lstStyle/>
          <a:p>
            <a:pPr marL="0" indent="0">
              <a:lnSpc>
                <a:spcPct val="125000"/>
              </a:lnSpc>
              <a:buNone/>
            </a:pPr>
            <a:r>
              <a:rPr lang="en-US" sz="1250" dirty="0">
                <a:solidFill>
                  <a:srgbClr val="5A5A6E"/>
                </a:solidFill>
                <a:latin typeface="Calibri" pitchFamily="34" charset="0"/>
                <a:ea typeface="Calibri" pitchFamily="34" charset="-122"/>
                <a:cs typeface="Calibri" pitchFamily="34" charset="-120"/>
              </a:rPr>
              <a:t>DoH/DoT protect user privacy but blind enterprise SOC teams — encrypted C2 traffic can't be inspected without intrusive MITM decryption.</a:t>
            </a:r>
            <a:endParaRPr lang="en-US" sz="1250" dirty="0"/>
          </a:p>
        </p:txBody>
      </p:sp>
      <p:sp>
        <p:nvSpPr>
          <p:cNvPr id="7" name="Shape 5"/>
          <p:cNvSpPr/>
          <p:nvPr/>
        </p:nvSpPr>
        <p:spPr>
          <a:xfrm>
            <a:off x="548640" y="3017520"/>
            <a:ext cx="11064240" cy="1417320"/>
          </a:xfrm>
          <a:prstGeom prst="roundRect">
            <a:avLst>
              <a:gd name="adj" fmla="val 5161"/>
            </a:avLst>
          </a:prstGeom>
          <a:solidFill>
            <a:srgbClr val="EEF2FA"/>
          </a:solidFill>
          <a:ln/>
        </p:spPr>
      </p:sp>
      <p:sp>
        <p:nvSpPr>
          <p:cNvPr id="8" name="Text 6"/>
          <p:cNvSpPr/>
          <p:nvPr/>
        </p:nvSpPr>
        <p:spPr>
          <a:xfrm>
            <a:off x="822960" y="3145536"/>
            <a:ext cx="10515600" cy="36576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Dangling &amp; DNS Drift</a:t>
            </a:r>
            <a:endParaRPr lang="en-US" sz="1500" dirty="0"/>
          </a:p>
        </p:txBody>
      </p:sp>
      <p:sp>
        <p:nvSpPr>
          <p:cNvPr id="9" name="Text 7"/>
          <p:cNvSpPr/>
          <p:nvPr/>
        </p:nvSpPr>
        <p:spPr>
          <a:xfrm>
            <a:off x="822960" y="3529584"/>
            <a:ext cx="10515600" cy="822960"/>
          </a:xfrm>
          <a:prstGeom prst="rect">
            <a:avLst/>
          </a:prstGeom>
          <a:noFill/>
          <a:ln/>
        </p:spPr>
        <p:txBody>
          <a:bodyPr wrap="square" rtlCol="0" anchor="ctr"/>
          <a:lstStyle/>
          <a:p>
            <a:pPr marL="0" indent="0">
              <a:lnSpc>
                <a:spcPct val="125000"/>
              </a:lnSpc>
              <a:buNone/>
            </a:pPr>
            <a:r>
              <a:rPr lang="en-US" sz="1250" dirty="0">
                <a:solidFill>
                  <a:srgbClr val="5A5A6E"/>
                </a:solidFill>
                <a:latin typeface="Calibri" pitchFamily="34" charset="0"/>
                <a:ea typeface="Calibri" pitchFamily="34" charset="-122"/>
                <a:cs typeface="Calibri" pitchFamily="34" charset="-120"/>
              </a:rPr>
              <a:t>Cloud, multi-tenant scaling leaves dangling CNAME/A/MX records and lifecycle drift that perimeter firewalls don't track — exposing orphaned namespace.</a:t>
            </a:r>
            <a:endParaRPr lang="en-US" sz="1250" dirty="0"/>
          </a:p>
        </p:txBody>
      </p:sp>
      <p:sp>
        <p:nvSpPr>
          <p:cNvPr id="10" name="Shape 8"/>
          <p:cNvSpPr/>
          <p:nvPr/>
        </p:nvSpPr>
        <p:spPr>
          <a:xfrm>
            <a:off x="548640" y="4617720"/>
            <a:ext cx="11064240" cy="1417320"/>
          </a:xfrm>
          <a:prstGeom prst="roundRect">
            <a:avLst>
              <a:gd name="adj" fmla="val 5161"/>
            </a:avLst>
          </a:prstGeom>
          <a:solidFill>
            <a:srgbClr val="EEF2FA"/>
          </a:solidFill>
          <a:ln/>
        </p:spPr>
      </p:sp>
      <p:sp>
        <p:nvSpPr>
          <p:cNvPr id="11" name="Text 9"/>
          <p:cNvSpPr/>
          <p:nvPr/>
        </p:nvSpPr>
        <p:spPr>
          <a:xfrm>
            <a:off x="822960" y="4745736"/>
            <a:ext cx="10515600" cy="36576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DNSSEC Validation Burden</a:t>
            </a:r>
            <a:endParaRPr lang="en-US" sz="1500" dirty="0"/>
          </a:p>
        </p:txBody>
      </p:sp>
      <p:sp>
        <p:nvSpPr>
          <p:cNvPr id="12" name="Text 10"/>
          <p:cNvSpPr/>
          <p:nvPr/>
        </p:nvSpPr>
        <p:spPr>
          <a:xfrm>
            <a:off x="822960" y="5129784"/>
            <a:ext cx="10515600" cy="822960"/>
          </a:xfrm>
          <a:prstGeom prst="rect">
            <a:avLst/>
          </a:prstGeom>
          <a:noFill/>
          <a:ln/>
        </p:spPr>
        <p:txBody>
          <a:bodyPr wrap="square" rtlCol="0" anchor="ctr"/>
          <a:lstStyle/>
          <a:p>
            <a:pPr marL="0" indent="0">
              <a:lnSpc>
                <a:spcPct val="125000"/>
              </a:lnSpc>
              <a:buNone/>
            </a:pPr>
            <a:r>
              <a:rPr lang="en-US" sz="1250" dirty="0">
                <a:solidFill>
                  <a:srgbClr val="5A5A6E"/>
                </a:solidFill>
                <a:latin typeface="Calibri" pitchFamily="34" charset="0"/>
                <a:ea typeface="Calibri" pitchFamily="34" charset="-122"/>
                <a:cs typeface="Calibri" pitchFamily="34" charset="-120"/>
              </a:rPr>
              <a:t>Cryptographic validation adds overhead; resource-limited clients like IoT and edge nodes often disable it to save power.</a:t>
            </a:r>
            <a:endParaRPr lang="en-US" sz="1250" dirty="0"/>
          </a:p>
        </p:txBody>
      </p:sp>
      <p:sp>
        <p:nvSpPr>
          <p:cNvPr id="13" name="Text 11"/>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RESEARCH GAP  ·  2 OF 2</a:t>
            </a:r>
            <a:endParaRPr lang="en-US" sz="1200" dirty="0"/>
          </a:p>
        </p:txBody>
      </p:sp>
      <p:sp>
        <p:nvSpPr>
          <p:cNvPr id="3" name="Text 1"/>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Performance, Caching &amp; Scalability</a:t>
            </a:r>
            <a:endParaRPr lang="en-US" sz="2800" dirty="0"/>
          </a:p>
        </p:txBody>
      </p:sp>
      <p:sp>
        <p:nvSpPr>
          <p:cNvPr id="4" name="Text 2"/>
          <p:cNvSpPr/>
          <p:nvPr/>
        </p:nvSpPr>
        <p:spPr>
          <a:xfrm>
            <a:off x="548640" y="1417320"/>
            <a:ext cx="5394960" cy="320040"/>
          </a:xfrm>
          <a:prstGeom prst="rect">
            <a:avLst/>
          </a:prstGeom>
          <a:noFill/>
          <a:ln/>
        </p:spPr>
        <p:txBody>
          <a:bodyPr wrap="square" rtlCol="0" anchor="ctr"/>
          <a:lstStyle/>
          <a:p>
            <a:pPr marL="0" indent="0">
              <a:buNone/>
            </a:pPr>
            <a:r>
              <a:rPr lang="en-US" sz="1300" b="1" dirty="0">
                <a:solidFill>
                  <a:srgbClr val="2E5EAA"/>
                </a:solidFill>
                <a:latin typeface="Calibri" pitchFamily="34" charset="0"/>
                <a:ea typeface="Calibri" pitchFamily="34" charset="-122"/>
                <a:cs typeface="Calibri" pitchFamily="34" charset="-120"/>
              </a:rPr>
              <a:t>PERFORMANCE &amp; CACHING</a:t>
            </a:r>
            <a:endParaRPr lang="en-US" sz="1300" dirty="0"/>
          </a:p>
        </p:txBody>
      </p:sp>
      <p:sp>
        <p:nvSpPr>
          <p:cNvPr id="5" name="Text 3"/>
          <p:cNvSpPr/>
          <p:nvPr/>
        </p:nvSpPr>
        <p:spPr>
          <a:xfrm>
            <a:off x="548640" y="1828800"/>
            <a:ext cx="5394960" cy="365760"/>
          </a:xfrm>
          <a:prstGeom prst="rect">
            <a:avLst/>
          </a:prstGeom>
          <a:noFill/>
          <a:ln/>
        </p:spPr>
        <p:txBody>
          <a:bodyPr wrap="square"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Static vs. Adaptive TTLs</a:t>
            </a:r>
            <a:endParaRPr lang="en-US" sz="1350" dirty="0"/>
          </a:p>
        </p:txBody>
      </p:sp>
      <p:sp>
        <p:nvSpPr>
          <p:cNvPr id="6" name="Text 4"/>
          <p:cNvSpPr/>
          <p:nvPr/>
        </p:nvSpPr>
        <p:spPr>
          <a:xfrm>
            <a:off x="548640" y="2176272"/>
            <a:ext cx="5394960" cy="1097280"/>
          </a:xfrm>
          <a:prstGeom prst="rect">
            <a:avLst/>
          </a:prstGeom>
          <a:noFill/>
          <a:ln/>
        </p:spPr>
        <p:txBody>
          <a:bodyPr wrap="square" rtlCol="0" anchor="ctr"/>
          <a:lstStyle/>
          <a:p>
            <a:pPr marL="0" indent="0">
              <a:lnSpc>
                <a:spcPct val="125000"/>
              </a:lnSpc>
              <a:buNone/>
            </a:pPr>
            <a:r>
              <a:rPr lang="en-US" sz="1200" dirty="0">
                <a:solidFill>
                  <a:srgbClr val="5A5A6E"/>
                </a:solidFill>
                <a:latin typeface="Calibri" pitchFamily="34" charset="0"/>
                <a:ea typeface="Calibri" pitchFamily="34" charset="-122"/>
                <a:cs typeface="Calibri" pitchFamily="34" charset="-120"/>
              </a:rPr>
              <a:t>Fixed TTLs cause stale records and query storms with microservices/CDN backends that change frequently.</a:t>
            </a:r>
            <a:endParaRPr lang="en-US" sz="1200" dirty="0"/>
          </a:p>
        </p:txBody>
      </p:sp>
      <p:sp>
        <p:nvSpPr>
          <p:cNvPr id="7" name="Text 5"/>
          <p:cNvSpPr/>
          <p:nvPr/>
        </p:nvSpPr>
        <p:spPr>
          <a:xfrm>
            <a:off x="548640" y="3429000"/>
            <a:ext cx="5394960" cy="365760"/>
          </a:xfrm>
          <a:prstGeom prst="rect">
            <a:avLst/>
          </a:prstGeom>
          <a:noFill/>
          <a:ln/>
        </p:spPr>
        <p:txBody>
          <a:bodyPr wrap="square"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Stub Resolver Shortcomings</a:t>
            </a:r>
            <a:endParaRPr lang="en-US" sz="1350" dirty="0"/>
          </a:p>
        </p:txBody>
      </p:sp>
      <p:sp>
        <p:nvSpPr>
          <p:cNvPr id="8" name="Text 6"/>
          <p:cNvSpPr/>
          <p:nvPr/>
        </p:nvSpPr>
        <p:spPr>
          <a:xfrm>
            <a:off x="548640" y="3776472"/>
            <a:ext cx="5394960" cy="1097280"/>
          </a:xfrm>
          <a:prstGeom prst="rect">
            <a:avLst/>
          </a:prstGeom>
          <a:noFill/>
          <a:ln/>
        </p:spPr>
        <p:txBody>
          <a:bodyPr wrap="square" rtlCol="0" anchor="ctr"/>
          <a:lstStyle/>
          <a:p>
            <a:pPr marL="0" indent="0">
              <a:lnSpc>
                <a:spcPct val="125000"/>
              </a:lnSpc>
              <a:buNone/>
            </a:pPr>
            <a:r>
              <a:rPr lang="en-US" sz="1200" dirty="0">
                <a:solidFill>
                  <a:srgbClr val="5A5A6E"/>
                </a:solidFill>
                <a:latin typeface="Calibri" pitchFamily="34" charset="0"/>
                <a:ea typeface="Calibri" pitchFamily="34" charset="-122"/>
                <a:cs typeface="Calibri" pitchFamily="34" charset="-120"/>
              </a:rPr>
              <a:t>OS resolvers fall back with simple round-robin — no intelligent multi-path routing around congestion or compromised recursive resolvers.</a:t>
            </a:r>
            <a:endParaRPr lang="en-US" sz="1200" dirty="0"/>
          </a:p>
        </p:txBody>
      </p:sp>
      <p:sp>
        <p:nvSpPr>
          <p:cNvPr id="9" name="Shape 7"/>
          <p:cNvSpPr/>
          <p:nvPr/>
        </p:nvSpPr>
        <p:spPr>
          <a:xfrm>
            <a:off x="6172200" y="1417320"/>
            <a:ext cx="0" cy="4206240"/>
          </a:xfrm>
          <a:prstGeom prst="line">
            <a:avLst/>
          </a:prstGeom>
          <a:noFill/>
          <a:ln w="12700">
            <a:solidFill>
              <a:srgbClr val="E1E4EA"/>
            </a:solidFill>
            <a:prstDash val="solid"/>
          </a:ln>
        </p:spPr>
      </p:sp>
      <p:sp>
        <p:nvSpPr>
          <p:cNvPr id="10" name="Text 8"/>
          <p:cNvSpPr/>
          <p:nvPr/>
        </p:nvSpPr>
        <p:spPr>
          <a:xfrm>
            <a:off x="6355080" y="1417320"/>
            <a:ext cx="5303520" cy="320040"/>
          </a:xfrm>
          <a:prstGeom prst="rect">
            <a:avLst/>
          </a:prstGeom>
          <a:noFill/>
          <a:ln/>
        </p:spPr>
        <p:txBody>
          <a:bodyPr wrap="square" rtlCol="0" anchor="ctr"/>
          <a:lstStyle/>
          <a:p>
            <a:pPr marL="0" indent="0">
              <a:buNone/>
            </a:pPr>
            <a:r>
              <a:rPr lang="en-US" sz="1300" b="1" dirty="0">
                <a:solidFill>
                  <a:srgbClr val="2E5EAA"/>
                </a:solidFill>
                <a:latin typeface="Calibri" pitchFamily="34" charset="0"/>
                <a:ea typeface="Calibri" pitchFamily="34" charset="-122"/>
                <a:cs typeface="Calibri" pitchFamily="34" charset="-120"/>
              </a:rPr>
              <a:t>CLOUD-NATIVE SCALABILITY</a:t>
            </a:r>
            <a:endParaRPr lang="en-US" sz="1300" dirty="0"/>
          </a:p>
        </p:txBody>
      </p:sp>
      <p:sp>
        <p:nvSpPr>
          <p:cNvPr id="11" name="Text 9"/>
          <p:cNvSpPr/>
          <p:nvPr/>
        </p:nvSpPr>
        <p:spPr>
          <a:xfrm>
            <a:off x="6355080" y="1828800"/>
            <a:ext cx="5303520" cy="365760"/>
          </a:xfrm>
          <a:prstGeom prst="rect">
            <a:avLst/>
          </a:prstGeom>
          <a:noFill/>
          <a:ln/>
        </p:spPr>
        <p:txBody>
          <a:bodyPr wrap="square"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Service Discovery Redundancy</a:t>
            </a:r>
            <a:endParaRPr lang="en-US" sz="1350" dirty="0"/>
          </a:p>
        </p:txBody>
      </p:sp>
      <p:sp>
        <p:nvSpPr>
          <p:cNvPr id="12" name="Text 10"/>
          <p:cNvSpPr/>
          <p:nvPr/>
        </p:nvSpPr>
        <p:spPr>
          <a:xfrm>
            <a:off x="6355080" y="2176272"/>
            <a:ext cx="5303520" cy="1097280"/>
          </a:xfrm>
          <a:prstGeom prst="rect">
            <a:avLst/>
          </a:prstGeom>
          <a:noFill/>
          <a:ln/>
        </p:spPr>
        <p:txBody>
          <a:bodyPr wrap="square" rtlCol="0" anchor="ctr"/>
          <a:lstStyle/>
          <a:p>
            <a:pPr marL="0" indent="0">
              <a:lnSpc>
                <a:spcPct val="125000"/>
              </a:lnSpc>
              <a:buNone/>
            </a:pPr>
            <a:r>
              <a:rPr lang="en-US" sz="1200" dirty="0">
                <a:solidFill>
                  <a:srgbClr val="5A5A6E"/>
                </a:solidFill>
                <a:latin typeface="Calibri" pitchFamily="34" charset="0"/>
                <a:ea typeface="Calibri" pitchFamily="34" charset="-122"/>
                <a:cs typeface="Calibri" pitchFamily="34" charset="-120"/>
              </a:rPr>
              <a:t>Kubernetes-style API discovery (etcd/Consul) duplicates traditional hierarchical DNS — an unoptimized penalty on flat lookups.</a:t>
            </a:r>
            <a:endParaRPr lang="en-US" sz="1200" dirty="0"/>
          </a:p>
        </p:txBody>
      </p:sp>
      <p:sp>
        <p:nvSpPr>
          <p:cNvPr id="13" name="Text 11"/>
          <p:cNvSpPr/>
          <p:nvPr/>
        </p:nvSpPr>
        <p:spPr>
          <a:xfrm>
            <a:off x="6355080" y="3429000"/>
            <a:ext cx="5303520" cy="365760"/>
          </a:xfrm>
          <a:prstGeom prst="rect">
            <a:avLst/>
          </a:prstGeom>
          <a:noFill/>
          <a:ln/>
        </p:spPr>
        <p:txBody>
          <a:bodyPr wrap="square" rtlCol="0" anchor="ctr"/>
          <a:lstStyle/>
          <a:p>
            <a:pPr marL="0" indent="0">
              <a:buNone/>
            </a:pPr>
            <a:r>
              <a:rPr lang="en-US" sz="1350" b="1" dirty="0">
                <a:solidFill>
                  <a:srgbClr val="1A1A2E"/>
                </a:solidFill>
                <a:latin typeface="Calibri" pitchFamily="34" charset="0"/>
                <a:ea typeface="Calibri" pitchFamily="34" charset="-122"/>
                <a:cs typeface="Calibri" pitchFamily="34" charset="-120"/>
              </a:rPr>
              <a:t>Telemetry Normalization</a:t>
            </a:r>
            <a:endParaRPr lang="en-US" sz="1350" dirty="0"/>
          </a:p>
        </p:txBody>
      </p:sp>
      <p:sp>
        <p:nvSpPr>
          <p:cNvPr id="14" name="Text 12"/>
          <p:cNvSpPr/>
          <p:nvPr/>
        </p:nvSpPr>
        <p:spPr>
          <a:xfrm>
            <a:off x="6355080" y="3776472"/>
            <a:ext cx="5303520" cy="1097280"/>
          </a:xfrm>
          <a:prstGeom prst="rect">
            <a:avLst/>
          </a:prstGeom>
          <a:noFill/>
          <a:ln/>
        </p:spPr>
        <p:txBody>
          <a:bodyPr wrap="square" rtlCol="0" anchor="ctr"/>
          <a:lstStyle/>
          <a:p>
            <a:pPr marL="0" indent="0">
              <a:lnSpc>
                <a:spcPct val="125000"/>
              </a:lnSpc>
              <a:buNone/>
            </a:pPr>
            <a:r>
              <a:rPr lang="en-US" sz="1200" dirty="0">
                <a:solidFill>
                  <a:srgbClr val="5A5A6E"/>
                </a:solidFill>
                <a:latin typeface="Calibri" pitchFamily="34" charset="0"/>
                <a:ea typeface="Calibri" pitchFamily="34" charset="-122"/>
                <a:cs typeface="Calibri" pitchFamily="34" charset="-120"/>
              </a:rPr>
              <a:t>High-QPS, hybrid cloud environments generate fragmented logs that are hard to normalize without straining local client storage.</a:t>
            </a:r>
            <a:endParaRPr lang="en-US" sz="1200" dirty="0"/>
          </a:p>
        </p:txBody>
      </p:sp>
      <p:sp>
        <p:nvSpPr>
          <p:cNvPr id="15" name="Text 13"/>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SOLUTION</a:t>
            </a:r>
            <a:endParaRPr lang="en-US" sz="1200" dirty="0"/>
          </a:p>
        </p:txBody>
      </p:sp>
      <p:sp>
        <p:nvSpPr>
          <p:cNvPr id="3" name="Text 1"/>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Proposed System</a:t>
            </a:r>
            <a:endParaRPr lang="en-US" sz="2800" dirty="0"/>
          </a:p>
        </p:txBody>
      </p:sp>
      <p:sp>
        <p:nvSpPr>
          <p:cNvPr id="4" name="Text 2"/>
          <p:cNvSpPr/>
          <p:nvPr/>
        </p:nvSpPr>
        <p:spPr>
          <a:xfrm>
            <a:off x="548640" y="1371600"/>
            <a:ext cx="11064240" cy="1005840"/>
          </a:xfrm>
          <a:prstGeom prst="rect">
            <a:avLst/>
          </a:prstGeom>
          <a:noFill/>
          <a:ln/>
        </p:spPr>
        <p:txBody>
          <a:bodyPr wrap="square" rtlCol="0" anchor="ctr"/>
          <a:lstStyle/>
          <a:p>
            <a:pPr marL="0" indent="0">
              <a:lnSpc>
                <a:spcPct val="130000"/>
              </a:lnSpc>
              <a:buNone/>
            </a:pPr>
            <a:r>
              <a:rPr lang="en-US" sz="1500" dirty="0">
                <a:solidFill>
                  <a:srgbClr val="1A1A2E"/>
                </a:solidFill>
                <a:latin typeface="Calibri" pitchFamily="34" charset="0"/>
                <a:ea typeface="Calibri" pitchFamily="34" charset="-122"/>
                <a:cs typeface="Calibri" pitchFamily="34" charset="-120"/>
              </a:rPr>
              <a:t>A simple DNS Client–Server application that converts a domain name into an IP address. The client sends the domain name to the server; the server checks its local database and returns the matching IP address, or a “Domain Not Found” message.</a:t>
            </a:r>
            <a:endParaRPr lang="en-US" sz="1500" dirty="0"/>
          </a:p>
        </p:txBody>
      </p:sp>
      <p:sp>
        <p:nvSpPr>
          <p:cNvPr id="5" name="Shape 3"/>
          <p:cNvSpPr/>
          <p:nvPr/>
        </p:nvSpPr>
        <p:spPr>
          <a:xfrm>
            <a:off x="548640" y="2651760"/>
            <a:ext cx="5349240" cy="1920240"/>
          </a:xfrm>
          <a:prstGeom prst="roundRect">
            <a:avLst>
              <a:gd name="adj" fmla="val 4762"/>
            </a:avLst>
          </a:prstGeom>
          <a:solidFill>
            <a:srgbClr val="EEF2FA"/>
          </a:solidFill>
          <a:ln/>
        </p:spPr>
      </p:sp>
      <p:sp>
        <p:nvSpPr>
          <p:cNvPr id="6" name="Text 4"/>
          <p:cNvSpPr/>
          <p:nvPr/>
        </p:nvSpPr>
        <p:spPr>
          <a:xfrm>
            <a:off x="868680" y="2834640"/>
            <a:ext cx="4754880" cy="365760"/>
          </a:xfrm>
          <a:prstGeom prst="rect">
            <a:avLst/>
          </a:prstGeom>
          <a:noFill/>
          <a:ln/>
        </p:spPr>
        <p:txBody>
          <a:bodyPr wrap="square" rtlCol="0" anchor="ctr"/>
          <a:lstStyle/>
          <a:p>
            <a:pPr marL="0" indent="0">
              <a:buNone/>
            </a:pPr>
            <a:r>
              <a:rPr lang="en-US" sz="1600" b="1" dirty="0">
                <a:solidFill>
                  <a:srgbClr val="2E5EAA"/>
                </a:solidFill>
                <a:latin typeface="Calibri" pitchFamily="34" charset="0"/>
                <a:ea typeface="Calibri" pitchFamily="34" charset="-122"/>
                <a:cs typeface="Calibri" pitchFamily="34" charset="-120"/>
              </a:rPr>
              <a:t>DNS Server</a:t>
            </a:r>
            <a:endParaRPr lang="en-US" sz="1600" dirty="0"/>
          </a:p>
        </p:txBody>
      </p:sp>
      <p:sp>
        <p:nvSpPr>
          <p:cNvPr id="7" name="Text 5"/>
          <p:cNvSpPr/>
          <p:nvPr/>
        </p:nvSpPr>
        <p:spPr>
          <a:xfrm>
            <a:off x="868680" y="3246120"/>
            <a:ext cx="4754880" cy="1188720"/>
          </a:xfrm>
          <a:prstGeom prst="rect">
            <a:avLst/>
          </a:prstGeom>
          <a:noFill/>
          <a:ln/>
        </p:spPr>
        <p:txBody>
          <a:bodyPr wrap="square" rtlCol="0" anchor="ctr"/>
          <a:lstStyle/>
          <a:p>
            <a:pPr marL="0" indent="0">
              <a:lnSpc>
                <a:spcPct val="130000"/>
              </a:lnSpc>
              <a:buNone/>
            </a:pPr>
            <a:r>
              <a:rPr lang="en-US" sz="1300" dirty="0">
                <a:solidFill>
                  <a:srgbClr val="1A1A2E"/>
                </a:solidFill>
                <a:latin typeface="Calibri" pitchFamily="34" charset="0"/>
                <a:ea typeface="Calibri" pitchFamily="34" charset="-122"/>
                <a:cs typeface="Calibri" pitchFamily="34" charset="-120"/>
              </a:rPr>
              <a:t>The core of the application. Listens on a port, looks up the requested domain in its local database, and returns the IP address — or an error if it isn't found.</a:t>
            </a:r>
            <a:endParaRPr lang="en-US" sz="1300" dirty="0"/>
          </a:p>
        </p:txBody>
      </p:sp>
      <p:sp>
        <p:nvSpPr>
          <p:cNvPr id="8" name="Shape 6"/>
          <p:cNvSpPr/>
          <p:nvPr/>
        </p:nvSpPr>
        <p:spPr>
          <a:xfrm>
            <a:off x="6263640" y="2651760"/>
            <a:ext cx="5349240" cy="1920240"/>
          </a:xfrm>
          <a:prstGeom prst="roundRect">
            <a:avLst>
              <a:gd name="adj" fmla="val 4762"/>
            </a:avLst>
          </a:prstGeom>
          <a:solidFill>
            <a:srgbClr val="EEF2FA"/>
          </a:solidFill>
          <a:ln/>
        </p:spPr>
      </p:sp>
      <p:sp>
        <p:nvSpPr>
          <p:cNvPr id="9" name="Text 7"/>
          <p:cNvSpPr/>
          <p:nvPr/>
        </p:nvSpPr>
        <p:spPr>
          <a:xfrm>
            <a:off x="6583680" y="2834640"/>
            <a:ext cx="4754880" cy="365760"/>
          </a:xfrm>
          <a:prstGeom prst="rect">
            <a:avLst/>
          </a:prstGeom>
          <a:noFill/>
          <a:ln/>
        </p:spPr>
        <p:txBody>
          <a:bodyPr wrap="square" rtlCol="0" anchor="ctr"/>
          <a:lstStyle/>
          <a:p>
            <a:pPr marL="0" indent="0">
              <a:buNone/>
            </a:pPr>
            <a:r>
              <a:rPr lang="en-US" sz="1600" b="1" dirty="0">
                <a:solidFill>
                  <a:srgbClr val="2E5EAA"/>
                </a:solidFill>
                <a:latin typeface="Calibri" pitchFamily="34" charset="0"/>
                <a:ea typeface="Calibri" pitchFamily="34" charset="-122"/>
                <a:cs typeface="Calibri" pitchFamily="34" charset="-120"/>
              </a:rPr>
              <a:t>DNS Client</a:t>
            </a:r>
            <a:endParaRPr lang="en-US" sz="1600" dirty="0"/>
          </a:p>
        </p:txBody>
      </p:sp>
      <p:sp>
        <p:nvSpPr>
          <p:cNvPr id="10" name="Text 8"/>
          <p:cNvSpPr/>
          <p:nvPr/>
        </p:nvSpPr>
        <p:spPr>
          <a:xfrm>
            <a:off x="6583680" y="3246120"/>
            <a:ext cx="4754880" cy="1188720"/>
          </a:xfrm>
          <a:prstGeom prst="rect">
            <a:avLst/>
          </a:prstGeom>
          <a:noFill/>
          <a:ln/>
        </p:spPr>
        <p:txBody>
          <a:bodyPr wrap="square" rtlCol="0" anchor="ctr"/>
          <a:lstStyle/>
          <a:p>
            <a:pPr marL="0" indent="0">
              <a:lnSpc>
                <a:spcPct val="130000"/>
              </a:lnSpc>
              <a:buNone/>
            </a:pPr>
            <a:r>
              <a:rPr lang="en-US" sz="1300" dirty="0">
                <a:solidFill>
                  <a:srgbClr val="1A1A2E"/>
                </a:solidFill>
                <a:latin typeface="Calibri" pitchFamily="34" charset="0"/>
                <a:ea typeface="Calibri" pitchFamily="34" charset="-122"/>
                <a:cs typeface="Calibri" pitchFamily="34" charset="-120"/>
              </a:rPr>
              <a:t>A simple interface that takes the domain name as input, forwards the request to the server, and displays the returned IP address or error message.</a:t>
            </a:r>
            <a:endParaRPr lang="en-US" sz="1300" dirty="0"/>
          </a:p>
        </p:txBody>
      </p:sp>
      <p:sp>
        <p:nvSpPr>
          <p:cNvPr id="11" name="Text 9"/>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Communication Flow</a:t>
            </a:r>
            <a:endParaRPr lang="en-US" sz="2800" dirty="0"/>
          </a:p>
        </p:txBody>
      </p:sp>
      <p:sp>
        <p:nvSpPr>
          <p:cNvPr id="4" name="Shape 2"/>
          <p:cNvSpPr/>
          <p:nvPr/>
        </p:nvSpPr>
        <p:spPr>
          <a:xfrm>
            <a:off x="548640" y="2103120"/>
            <a:ext cx="1783080" cy="2377440"/>
          </a:xfrm>
          <a:prstGeom prst="roundRect">
            <a:avLst>
              <a:gd name="adj" fmla="val 4103"/>
            </a:avLst>
          </a:prstGeom>
          <a:solidFill>
            <a:srgbClr val="EEF2FA"/>
          </a:solidFill>
          <a:ln w="12700">
            <a:solidFill>
              <a:srgbClr val="E1E4EA"/>
            </a:solidFill>
            <a:prstDash val="solid"/>
          </a:ln>
        </p:spPr>
      </p:sp>
      <p:sp>
        <p:nvSpPr>
          <p:cNvPr id="5" name="Text 3"/>
          <p:cNvSpPr/>
          <p:nvPr/>
        </p:nvSpPr>
        <p:spPr>
          <a:xfrm>
            <a:off x="685800" y="2240280"/>
            <a:ext cx="548640" cy="457200"/>
          </a:xfrm>
          <a:prstGeom prst="rect">
            <a:avLst/>
          </a:prstGeom>
          <a:noFill/>
          <a:ln/>
        </p:spPr>
        <p:txBody>
          <a:bodyPr wrap="square" rtlCol="0" anchor="ctr"/>
          <a:lstStyle/>
          <a:p>
            <a:pPr marL="0" indent="0">
              <a:buNone/>
            </a:pPr>
            <a:r>
              <a:rPr lang="en-US" sz="2000" b="1" dirty="0">
                <a:solidFill>
                  <a:srgbClr val="2E5EAA"/>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685800" y="2743200"/>
            <a:ext cx="1508760" cy="1645920"/>
          </a:xfrm>
          <a:prstGeom prst="rect">
            <a:avLst/>
          </a:prstGeom>
          <a:noFill/>
          <a:ln/>
        </p:spPr>
        <p:txBody>
          <a:bodyPr wrap="square" rtlCol="0" anchor="ctr"/>
          <a:lstStyle/>
          <a:p>
            <a:pPr marL="0" indent="0">
              <a:lnSpc>
                <a:spcPct val="120000"/>
              </a:lnSpc>
              <a:buNone/>
            </a:pPr>
            <a:r>
              <a:rPr lang="en-US" sz="1150" dirty="0">
                <a:solidFill>
                  <a:srgbClr val="1A1A2E"/>
                </a:solidFill>
                <a:latin typeface="Calibri" pitchFamily="34" charset="0"/>
                <a:ea typeface="Calibri" pitchFamily="34" charset="-122"/>
                <a:cs typeface="Calibri" pitchFamily="34" charset="-120"/>
              </a:rPr>
              <a:t>User enters the domain name</a:t>
            </a:r>
            <a:endParaRPr lang="en-US" sz="1150" dirty="0"/>
          </a:p>
        </p:txBody>
      </p:sp>
      <p:sp>
        <p:nvSpPr>
          <p:cNvPr id="7" name="Text 5"/>
          <p:cNvSpPr/>
          <p:nvPr/>
        </p:nvSpPr>
        <p:spPr>
          <a:xfrm>
            <a:off x="2331720" y="2926080"/>
            <a:ext cx="137160" cy="548640"/>
          </a:xfrm>
          <a:prstGeom prst="rect">
            <a:avLst/>
          </a:prstGeom>
          <a:noFill/>
          <a:ln/>
        </p:spPr>
        <p:txBody>
          <a:bodyPr wrap="square" rtlCol="0" anchor="ctr"/>
          <a:lstStyle/>
          <a:p>
            <a:pPr marL="0" indent="0" algn="ctr">
              <a:buNone/>
            </a:pPr>
            <a:r>
              <a:rPr lang="en-US" sz="1600" dirty="0">
                <a:solidFill>
                  <a:srgbClr val="5A5A6E"/>
                </a:solidFill>
                <a:latin typeface="Calibri" pitchFamily="34" charset="0"/>
                <a:ea typeface="Calibri" pitchFamily="34" charset="-122"/>
                <a:cs typeface="Calibri" pitchFamily="34" charset="-120"/>
              </a:rPr>
              <a:t>→</a:t>
            </a:r>
            <a:endParaRPr lang="en-US" sz="1600" dirty="0"/>
          </a:p>
        </p:txBody>
      </p:sp>
      <p:sp>
        <p:nvSpPr>
          <p:cNvPr id="8" name="Shape 6"/>
          <p:cNvSpPr/>
          <p:nvPr/>
        </p:nvSpPr>
        <p:spPr>
          <a:xfrm>
            <a:off x="2468880" y="2103120"/>
            <a:ext cx="1783080" cy="2377440"/>
          </a:xfrm>
          <a:prstGeom prst="roundRect">
            <a:avLst>
              <a:gd name="adj" fmla="val 4103"/>
            </a:avLst>
          </a:prstGeom>
          <a:solidFill>
            <a:srgbClr val="FFFFFF"/>
          </a:solidFill>
          <a:ln w="12700">
            <a:solidFill>
              <a:srgbClr val="E1E4EA"/>
            </a:solidFill>
            <a:prstDash val="solid"/>
          </a:ln>
        </p:spPr>
      </p:sp>
      <p:sp>
        <p:nvSpPr>
          <p:cNvPr id="9" name="Text 7"/>
          <p:cNvSpPr/>
          <p:nvPr/>
        </p:nvSpPr>
        <p:spPr>
          <a:xfrm>
            <a:off x="2606040" y="2240280"/>
            <a:ext cx="548640" cy="457200"/>
          </a:xfrm>
          <a:prstGeom prst="rect">
            <a:avLst/>
          </a:prstGeom>
          <a:noFill/>
          <a:ln/>
        </p:spPr>
        <p:txBody>
          <a:bodyPr wrap="square" rtlCol="0" anchor="ctr"/>
          <a:lstStyle/>
          <a:p>
            <a:pPr marL="0" indent="0">
              <a:buNone/>
            </a:pPr>
            <a:r>
              <a:rPr lang="en-US" sz="2000" b="1" dirty="0">
                <a:solidFill>
                  <a:srgbClr val="2E5EAA"/>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2606040" y="2743200"/>
            <a:ext cx="1508760" cy="1645920"/>
          </a:xfrm>
          <a:prstGeom prst="rect">
            <a:avLst/>
          </a:prstGeom>
          <a:noFill/>
          <a:ln/>
        </p:spPr>
        <p:txBody>
          <a:bodyPr wrap="square" rtlCol="0" anchor="ctr"/>
          <a:lstStyle/>
          <a:p>
            <a:pPr marL="0" indent="0">
              <a:lnSpc>
                <a:spcPct val="120000"/>
              </a:lnSpc>
              <a:buNone/>
            </a:pPr>
            <a:r>
              <a:rPr lang="en-US" sz="1150" dirty="0">
                <a:solidFill>
                  <a:srgbClr val="1A1A2E"/>
                </a:solidFill>
                <a:latin typeface="Calibri" pitchFamily="34" charset="0"/>
                <a:ea typeface="Calibri" pitchFamily="34" charset="-122"/>
                <a:cs typeface="Calibri" pitchFamily="34" charset="-120"/>
              </a:rPr>
              <a:t>DNS Client sends the domain name to the DNS Server</a:t>
            </a:r>
            <a:endParaRPr lang="en-US" sz="1150" dirty="0"/>
          </a:p>
        </p:txBody>
      </p:sp>
      <p:sp>
        <p:nvSpPr>
          <p:cNvPr id="11" name="Text 9"/>
          <p:cNvSpPr/>
          <p:nvPr/>
        </p:nvSpPr>
        <p:spPr>
          <a:xfrm>
            <a:off x="4251960" y="2926080"/>
            <a:ext cx="137160" cy="548640"/>
          </a:xfrm>
          <a:prstGeom prst="rect">
            <a:avLst/>
          </a:prstGeom>
          <a:noFill/>
          <a:ln/>
        </p:spPr>
        <p:txBody>
          <a:bodyPr wrap="square" rtlCol="0" anchor="ctr"/>
          <a:lstStyle/>
          <a:p>
            <a:pPr marL="0" indent="0" algn="ctr">
              <a:buNone/>
            </a:pPr>
            <a:r>
              <a:rPr lang="en-US" sz="1600" dirty="0">
                <a:solidFill>
                  <a:srgbClr val="5A5A6E"/>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4389120" y="2103120"/>
            <a:ext cx="1783080" cy="2377440"/>
          </a:xfrm>
          <a:prstGeom prst="roundRect">
            <a:avLst>
              <a:gd name="adj" fmla="val 4103"/>
            </a:avLst>
          </a:prstGeom>
          <a:solidFill>
            <a:srgbClr val="EEF2FA"/>
          </a:solidFill>
          <a:ln w="12700">
            <a:solidFill>
              <a:srgbClr val="E1E4EA"/>
            </a:solidFill>
            <a:prstDash val="solid"/>
          </a:ln>
        </p:spPr>
      </p:sp>
      <p:sp>
        <p:nvSpPr>
          <p:cNvPr id="13" name="Text 11"/>
          <p:cNvSpPr/>
          <p:nvPr/>
        </p:nvSpPr>
        <p:spPr>
          <a:xfrm>
            <a:off x="4526280" y="2240280"/>
            <a:ext cx="548640" cy="457200"/>
          </a:xfrm>
          <a:prstGeom prst="rect">
            <a:avLst/>
          </a:prstGeom>
          <a:noFill/>
          <a:ln/>
        </p:spPr>
        <p:txBody>
          <a:bodyPr wrap="square" rtlCol="0" anchor="ctr"/>
          <a:lstStyle/>
          <a:p>
            <a:pPr marL="0" indent="0">
              <a:buNone/>
            </a:pPr>
            <a:r>
              <a:rPr lang="en-US" sz="2000" b="1" dirty="0">
                <a:solidFill>
                  <a:srgbClr val="2E5EAA"/>
                </a:solidFill>
                <a:latin typeface="Calibri" pitchFamily="34" charset="0"/>
                <a:ea typeface="Calibri" pitchFamily="34" charset="-122"/>
                <a:cs typeface="Calibri" pitchFamily="34" charset="-120"/>
              </a:rPr>
              <a:t>3</a:t>
            </a:r>
            <a:endParaRPr lang="en-US" sz="2000" dirty="0"/>
          </a:p>
        </p:txBody>
      </p:sp>
      <p:sp>
        <p:nvSpPr>
          <p:cNvPr id="14" name="Text 12"/>
          <p:cNvSpPr/>
          <p:nvPr/>
        </p:nvSpPr>
        <p:spPr>
          <a:xfrm>
            <a:off x="4526280" y="2743200"/>
            <a:ext cx="1508760" cy="1645920"/>
          </a:xfrm>
          <a:prstGeom prst="rect">
            <a:avLst/>
          </a:prstGeom>
          <a:noFill/>
          <a:ln/>
        </p:spPr>
        <p:txBody>
          <a:bodyPr wrap="square" rtlCol="0" anchor="ctr"/>
          <a:lstStyle/>
          <a:p>
            <a:pPr marL="0" indent="0">
              <a:lnSpc>
                <a:spcPct val="120000"/>
              </a:lnSpc>
              <a:buNone/>
            </a:pPr>
            <a:r>
              <a:rPr lang="en-US" sz="1150" dirty="0">
                <a:solidFill>
                  <a:srgbClr val="1A1A2E"/>
                </a:solidFill>
                <a:latin typeface="Calibri" pitchFamily="34" charset="0"/>
                <a:ea typeface="Calibri" pitchFamily="34" charset="-122"/>
                <a:cs typeface="Calibri" pitchFamily="34" charset="-120"/>
              </a:rPr>
              <a:t>DNS Server searches the domain in its local database</a:t>
            </a:r>
            <a:endParaRPr lang="en-US" sz="1150" dirty="0"/>
          </a:p>
        </p:txBody>
      </p:sp>
      <p:sp>
        <p:nvSpPr>
          <p:cNvPr id="15" name="Text 13"/>
          <p:cNvSpPr/>
          <p:nvPr/>
        </p:nvSpPr>
        <p:spPr>
          <a:xfrm>
            <a:off x="6172200" y="2926080"/>
            <a:ext cx="137160" cy="548640"/>
          </a:xfrm>
          <a:prstGeom prst="rect">
            <a:avLst/>
          </a:prstGeom>
          <a:noFill/>
          <a:ln/>
        </p:spPr>
        <p:txBody>
          <a:bodyPr wrap="square" rtlCol="0" anchor="ctr"/>
          <a:lstStyle/>
          <a:p>
            <a:pPr marL="0" indent="0" algn="ctr">
              <a:buNone/>
            </a:pPr>
            <a:r>
              <a:rPr lang="en-US" sz="1600" dirty="0">
                <a:solidFill>
                  <a:srgbClr val="5A5A6E"/>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6309360" y="2103120"/>
            <a:ext cx="1783080" cy="2377440"/>
          </a:xfrm>
          <a:prstGeom prst="roundRect">
            <a:avLst>
              <a:gd name="adj" fmla="val 4103"/>
            </a:avLst>
          </a:prstGeom>
          <a:solidFill>
            <a:srgbClr val="FFFFFF"/>
          </a:solidFill>
          <a:ln w="12700">
            <a:solidFill>
              <a:srgbClr val="E1E4EA"/>
            </a:solidFill>
            <a:prstDash val="solid"/>
          </a:ln>
        </p:spPr>
      </p:sp>
      <p:sp>
        <p:nvSpPr>
          <p:cNvPr id="17" name="Text 15"/>
          <p:cNvSpPr/>
          <p:nvPr/>
        </p:nvSpPr>
        <p:spPr>
          <a:xfrm>
            <a:off x="6446520" y="2240280"/>
            <a:ext cx="548640" cy="457200"/>
          </a:xfrm>
          <a:prstGeom prst="rect">
            <a:avLst/>
          </a:prstGeom>
          <a:noFill/>
          <a:ln/>
        </p:spPr>
        <p:txBody>
          <a:bodyPr wrap="square" rtlCol="0" anchor="ctr"/>
          <a:lstStyle/>
          <a:p>
            <a:pPr marL="0" indent="0">
              <a:buNone/>
            </a:pPr>
            <a:r>
              <a:rPr lang="en-US" sz="2000" b="1" dirty="0">
                <a:solidFill>
                  <a:srgbClr val="2E5EAA"/>
                </a:solidFill>
                <a:latin typeface="Calibri" pitchFamily="34" charset="0"/>
                <a:ea typeface="Calibri" pitchFamily="34" charset="-122"/>
                <a:cs typeface="Calibri" pitchFamily="34" charset="-120"/>
              </a:rPr>
              <a:t>4</a:t>
            </a:r>
            <a:endParaRPr lang="en-US" sz="2000" dirty="0"/>
          </a:p>
        </p:txBody>
      </p:sp>
      <p:sp>
        <p:nvSpPr>
          <p:cNvPr id="18" name="Text 16"/>
          <p:cNvSpPr/>
          <p:nvPr/>
        </p:nvSpPr>
        <p:spPr>
          <a:xfrm>
            <a:off x="6446520" y="2743200"/>
            <a:ext cx="1508760" cy="1645920"/>
          </a:xfrm>
          <a:prstGeom prst="rect">
            <a:avLst/>
          </a:prstGeom>
          <a:noFill/>
          <a:ln/>
        </p:spPr>
        <p:txBody>
          <a:bodyPr wrap="square" rtlCol="0" anchor="ctr"/>
          <a:lstStyle/>
          <a:p>
            <a:pPr marL="0" indent="0">
              <a:lnSpc>
                <a:spcPct val="120000"/>
              </a:lnSpc>
              <a:buNone/>
            </a:pPr>
            <a:r>
              <a:rPr lang="en-US" sz="1150" dirty="0">
                <a:solidFill>
                  <a:srgbClr val="1A1A2E"/>
                </a:solidFill>
                <a:latin typeface="Calibri" pitchFamily="34" charset="0"/>
                <a:ea typeface="Calibri" pitchFamily="34" charset="-122"/>
                <a:cs typeface="Calibri" pitchFamily="34" charset="-120"/>
              </a:rPr>
              <a:t>If the domain exists  server returns the IP address</a:t>
            </a:r>
            <a:endParaRPr lang="en-US" sz="1150" dirty="0"/>
          </a:p>
        </p:txBody>
      </p:sp>
      <p:sp>
        <p:nvSpPr>
          <p:cNvPr id="19" name="Text 17"/>
          <p:cNvSpPr/>
          <p:nvPr/>
        </p:nvSpPr>
        <p:spPr>
          <a:xfrm>
            <a:off x="8092440" y="2926080"/>
            <a:ext cx="137160" cy="548640"/>
          </a:xfrm>
          <a:prstGeom prst="rect">
            <a:avLst/>
          </a:prstGeom>
          <a:noFill/>
          <a:ln/>
        </p:spPr>
        <p:txBody>
          <a:bodyPr wrap="square" rtlCol="0" anchor="ctr"/>
          <a:lstStyle/>
          <a:p>
            <a:pPr marL="0" indent="0" algn="ctr">
              <a:buNone/>
            </a:pPr>
            <a:r>
              <a:rPr lang="en-US" sz="1600" dirty="0">
                <a:solidFill>
                  <a:srgbClr val="5A5A6E"/>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8229600" y="2103120"/>
            <a:ext cx="1783080" cy="2377440"/>
          </a:xfrm>
          <a:prstGeom prst="roundRect">
            <a:avLst>
              <a:gd name="adj" fmla="val 4103"/>
            </a:avLst>
          </a:prstGeom>
          <a:solidFill>
            <a:srgbClr val="EEF2FA"/>
          </a:solidFill>
          <a:ln w="12700">
            <a:solidFill>
              <a:srgbClr val="E1E4EA"/>
            </a:solidFill>
            <a:prstDash val="solid"/>
          </a:ln>
        </p:spPr>
      </p:sp>
      <p:sp>
        <p:nvSpPr>
          <p:cNvPr id="21" name="Text 19"/>
          <p:cNvSpPr/>
          <p:nvPr/>
        </p:nvSpPr>
        <p:spPr>
          <a:xfrm>
            <a:off x="8366760" y="2240280"/>
            <a:ext cx="548640" cy="457200"/>
          </a:xfrm>
          <a:prstGeom prst="rect">
            <a:avLst/>
          </a:prstGeom>
          <a:noFill/>
          <a:ln/>
        </p:spPr>
        <p:txBody>
          <a:bodyPr wrap="square" rtlCol="0" anchor="ctr"/>
          <a:lstStyle/>
          <a:p>
            <a:pPr marL="0" indent="0">
              <a:buNone/>
            </a:pPr>
            <a:r>
              <a:rPr lang="en-US" sz="2000" b="1" dirty="0">
                <a:solidFill>
                  <a:srgbClr val="2E5EAA"/>
                </a:solidFill>
                <a:latin typeface="Calibri" pitchFamily="34" charset="0"/>
                <a:ea typeface="Calibri" pitchFamily="34" charset="-122"/>
                <a:cs typeface="Calibri" pitchFamily="34" charset="-120"/>
              </a:rPr>
              <a:t>5</a:t>
            </a:r>
            <a:endParaRPr lang="en-US" sz="2000" dirty="0"/>
          </a:p>
        </p:txBody>
      </p:sp>
      <p:sp>
        <p:nvSpPr>
          <p:cNvPr id="22" name="Text 20"/>
          <p:cNvSpPr/>
          <p:nvPr/>
        </p:nvSpPr>
        <p:spPr>
          <a:xfrm>
            <a:off x="8366760" y="2743200"/>
            <a:ext cx="1508760" cy="1645920"/>
          </a:xfrm>
          <a:prstGeom prst="rect">
            <a:avLst/>
          </a:prstGeom>
          <a:noFill/>
          <a:ln/>
        </p:spPr>
        <p:txBody>
          <a:bodyPr wrap="square" rtlCol="0" anchor="ctr"/>
          <a:lstStyle/>
          <a:p>
            <a:pPr marL="0" indent="0">
              <a:lnSpc>
                <a:spcPct val="120000"/>
              </a:lnSpc>
              <a:buNone/>
            </a:pPr>
            <a:r>
              <a:rPr lang="en-US" sz="1150" dirty="0">
                <a:solidFill>
                  <a:srgbClr val="1A1A2E"/>
                </a:solidFill>
                <a:latin typeface="Calibri" pitchFamily="34" charset="0"/>
                <a:ea typeface="Calibri" pitchFamily="34" charset="-122"/>
                <a:cs typeface="Calibri" pitchFamily="34" charset="-120"/>
              </a:rPr>
              <a:t>If not server returns “Domain Not Found”</a:t>
            </a:r>
            <a:endParaRPr lang="en-US" sz="1150" dirty="0"/>
          </a:p>
        </p:txBody>
      </p:sp>
      <p:sp>
        <p:nvSpPr>
          <p:cNvPr id="23" name="Text 21"/>
          <p:cNvSpPr/>
          <p:nvPr/>
        </p:nvSpPr>
        <p:spPr>
          <a:xfrm>
            <a:off x="10012680" y="2926080"/>
            <a:ext cx="137160" cy="548640"/>
          </a:xfrm>
          <a:prstGeom prst="rect">
            <a:avLst/>
          </a:prstGeom>
          <a:noFill/>
          <a:ln/>
        </p:spPr>
        <p:txBody>
          <a:bodyPr wrap="square" rtlCol="0" anchor="ctr"/>
          <a:lstStyle/>
          <a:p>
            <a:pPr marL="0" indent="0" algn="ctr">
              <a:buNone/>
            </a:pPr>
            <a:r>
              <a:rPr lang="en-US" sz="1600" dirty="0">
                <a:solidFill>
                  <a:srgbClr val="5A5A6E"/>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10149840" y="2103120"/>
            <a:ext cx="1783080" cy="2377440"/>
          </a:xfrm>
          <a:prstGeom prst="roundRect">
            <a:avLst>
              <a:gd name="adj" fmla="val 4103"/>
            </a:avLst>
          </a:prstGeom>
          <a:solidFill>
            <a:srgbClr val="FFFFFF"/>
          </a:solidFill>
          <a:ln w="12700">
            <a:solidFill>
              <a:srgbClr val="E1E4EA"/>
            </a:solidFill>
            <a:prstDash val="solid"/>
          </a:ln>
        </p:spPr>
      </p:sp>
      <p:sp>
        <p:nvSpPr>
          <p:cNvPr id="25" name="Text 23"/>
          <p:cNvSpPr/>
          <p:nvPr/>
        </p:nvSpPr>
        <p:spPr>
          <a:xfrm>
            <a:off x="10287000" y="2240280"/>
            <a:ext cx="548640" cy="457200"/>
          </a:xfrm>
          <a:prstGeom prst="rect">
            <a:avLst/>
          </a:prstGeom>
          <a:noFill/>
          <a:ln/>
        </p:spPr>
        <p:txBody>
          <a:bodyPr wrap="square" rtlCol="0" anchor="ctr"/>
          <a:lstStyle/>
          <a:p>
            <a:pPr marL="0" indent="0">
              <a:buNone/>
            </a:pPr>
            <a:r>
              <a:rPr lang="en-US" sz="2000" b="1" dirty="0">
                <a:solidFill>
                  <a:srgbClr val="2E5EAA"/>
                </a:solidFill>
                <a:latin typeface="Calibri" pitchFamily="34" charset="0"/>
                <a:ea typeface="Calibri" pitchFamily="34" charset="-122"/>
                <a:cs typeface="Calibri" pitchFamily="34" charset="-120"/>
              </a:rPr>
              <a:t>6</a:t>
            </a:r>
            <a:endParaRPr lang="en-US" sz="2000" dirty="0"/>
          </a:p>
        </p:txBody>
      </p:sp>
      <p:sp>
        <p:nvSpPr>
          <p:cNvPr id="26" name="Text 24"/>
          <p:cNvSpPr/>
          <p:nvPr/>
        </p:nvSpPr>
        <p:spPr>
          <a:xfrm>
            <a:off x="10287000" y="2743200"/>
            <a:ext cx="1508760" cy="1645920"/>
          </a:xfrm>
          <a:prstGeom prst="rect">
            <a:avLst/>
          </a:prstGeom>
          <a:noFill/>
          <a:ln/>
        </p:spPr>
        <p:txBody>
          <a:bodyPr wrap="square" rtlCol="0" anchor="ctr"/>
          <a:lstStyle/>
          <a:p>
            <a:pPr marL="0" indent="0">
              <a:lnSpc>
                <a:spcPct val="120000"/>
              </a:lnSpc>
              <a:buNone/>
            </a:pPr>
            <a:r>
              <a:rPr lang="en-US" sz="1150" dirty="0">
                <a:solidFill>
                  <a:srgbClr val="1A1A2E"/>
                </a:solidFill>
                <a:latin typeface="Calibri" pitchFamily="34" charset="0"/>
                <a:ea typeface="Calibri" pitchFamily="34" charset="-122"/>
                <a:cs typeface="Calibri" pitchFamily="34" charset="-120"/>
              </a:rPr>
              <a:t>DNS Client displays the result to the user</a:t>
            </a:r>
            <a:endParaRPr lang="en-US" sz="1150" dirty="0"/>
          </a:p>
        </p:txBody>
      </p:sp>
      <p:sp>
        <p:nvSpPr>
          <p:cNvPr id="27" name="Text 25"/>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WHY THIS APPROACH</a:t>
            </a:r>
            <a:endParaRPr lang="en-US" sz="1200" dirty="0"/>
          </a:p>
        </p:txBody>
      </p:sp>
      <p:sp>
        <p:nvSpPr>
          <p:cNvPr id="3" name="Text 1"/>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Advantages</a:t>
            </a:r>
            <a:endParaRPr lang="en-US" sz="2800" dirty="0"/>
          </a:p>
        </p:txBody>
      </p:sp>
      <p:sp>
        <p:nvSpPr>
          <p:cNvPr id="4" name="Shape 2"/>
          <p:cNvSpPr/>
          <p:nvPr/>
        </p:nvSpPr>
        <p:spPr>
          <a:xfrm>
            <a:off x="548640" y="1645920"/>
            <a:ext cx="5394960" cy="1280160"/>
          </a:xfrm>
          <a:prstGeom prst="roundRect">
            <a:avLst>
              <a:gd name="adj" fmla="val 7143"/>
            </a:avLst>
          </a:prstGeom>
          <a:solidFill>
            <a:srgbClr val="EEF2FA"/>
          </a:solidFill>
          <a:ln/>
        </p:spPr>
      </p:sp>
      <p:sp>
        <p:nvSpPr>
          <p:cNvPr id="5" name="Text 3"/>
          <p:cNvSpPr/>
          <p:nvPr/>
        </p:nvSpPr>
        <p:spPr>
          <a:xfrm>
            <a:off x="868680" y="1920240"/>
            <a:ext cx="4754880" cy="73152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Very easy to understand and implement</a:t>
            </a:r>
            <a:endParaRPr lang="en-US" sz="1500" dirty="0"/>
          </a:p>
        </p:txBody>
      </p:sp>
      <p:sp>
        <p:nvSpPr>
          <p:cNvPr id="6" name="Shape 4"/>
          <p:cNvSpPr/>
          <p:nvPr/>
        </p:nvSpPr>
        <p:spPr>
          <a:xfrm>
            <a:off x="6172200" y="1645920"/>
            <a:ext cx="5394960" cy="1280160"/>
          </a:xfrm>
          <a:prstGeom prst="roundRect">
            <a:avLst>
              <a:gd name="adj" fmla="val 7143"/>
            </a:avLst>
          </a:prstGeom>
          <a:solidFill>
            <a:srgbClr val="EEF2FA"/>
          </a:solidFill>
          <a:ln/>
        </p:spPr>
      </p:sp>
      <p:sp>
        <p:nvSpPr>
          <p:cNvPr id="7" name="Text 5"/>
          <p:cNvSpPr/>
          <p:nvPr/>
        </p:nvSpPr>
        <p:spPr>
          <a:xfrm>
            <a:off x="6492240" y="1920240"/>
            <a:ext cx="4754880" cy="73152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Illustrates the basic concepts of DNS</a:t>
            </a:r>
            <a:endParaRPr lang="en-US" sz="1500" dirty="0"/>
          </a:p>
        </p:txBody>
      </p:sp>
      <p:sp>
        <p:nvSpPr>
          <p:cNvPr id="8" name="Shape 6"/>
          <p:cNvSpPr/>
          <p:nvPr/>
        </p:nvSpPr>
        <p:spPr>
          <a:xfrm>
            <a:off x="548640" y="3200400"/>
            <a:ext cx="5394960" cy="1280160"/>
          </a:xfrm>
          <a:prstGeom prst="roundRect">
            <a:avLst>
              <a:gd name="adj" fmla="val 7143"/>
            </a:avLst>
          </a:prstGeom>
          <a:solidFill>
            <a:srgbClr val="EEF2FA"/>
          </a:solidFill>
          <a:ln/>
        </p:spPr>
      </p:sp>
      <p:sp>
        <p:nvSpPr>
          <p:cNvPr id="9" name="Text 7"/>
          <p:cNvSpPr/>
          <p:nvPr/>
        </p:nvSpPr>
        <p:spPr>
          <a:xfrm>
            <a:off x="868680" y="3474720"/>
            <a:ext cx="4754880" cy="73152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Uses simple client–server communication</a:t>
            </a:r>
            <a:endParaRPr lang="en-US" sz="1500" dirty="0"/>
          </a:p>
        </p:txBody>
      </p:sp>
      <p:sp>
        <p:nvSpPr>
          <p:cNvPr id="10" name="Shape 8"/>
          <p:cNvSpPr/>
          <p:nvPr/>
        </p:nvSpPr>
        <p:spPr>
          <a:xfrm>
            <a:off x="6172200" y="3200400"/>
            <a:ext cx="5394960" cy="1280160"/>
          </a:xfrm>
          <a:prstGeom prst="roundRect">
            <a:avLst>
              <a:gd name="adj" fmla="val 7143"/>
            </a:avLst>
          </a:prstGeom>
          <a:solidFill>
            <a:srgbClr val="EEF2FA"/>
          </a:solidFill>
          <a:ln/>
        </p:spPr>
      </p:sp>
      <p:sp>
        <p:nvSpPr>
          <p:cNvPr id="11" name="Text 9"/>
          <p:cNvSpPr/>
          <p:nvPr/>
        </p:nvSpPr>
        <p:spPr>
          <a:xfrm>
            <a:off x="6492240" y="3474720"/>
            <a:ext cx="4754880" cy="73152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Performs quick lookups via a local database</a:t>
            </a:r>
            <a:endParaRPr lang="en-US" sz="1500" dirty="0"/>
          </a:p>
        </p:txBody>
      </p:sp>
      <p:sp>
        <p:nvSpPr>
          <p:cNvPr id="12" name="Text 10"/>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Architecture Diagram</a:t>
            </a:r>
            <a:endParaRPr lang="en-US" sz="2800" dirty="0"/>
          </a:p>
        </p:txBody>
      </p:sp>
      <p:pic>
        <p:nvPicPr>
          <p:cNvPr id="4" name="Image 0" descr="unpacked/word/media/image1.png"/>
          <p:cNvPicPr>
            <a:picLocks noChangeAspect="1"/>
          </p:cNvPicPr>
          <p:nvPr/>
        </p:nvPicPr>
        <p:blipFill>
          <a:blip r:embed="rId3"/>
          <a:stretch>
            <a:fillRect/>
          </a:stretch>
        </p:blipFill>
        <p:spPr>
          <a:xfrm>
            <a:off x="2726404" y="881619"/>
            <a:ext cx="5943600" cy="5592333"/>
          </a:xfrm>
          <a:prstGeom prst="rect">
            <a:avLst/>
          </a:prstGeom>
        </p:spPr>
      </p:pic>
      <p:sp>
        <p:nvSpPr>
          <p:cNvPr id="5" name="Text 2"/>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SDG MAPPING</a:t>
            </a:r>
            <a:endParaRPr lang="en-US" sz="1200" dirty="0"/>
          </a:p>
        </p:txBody>
      </p:sp>
      <p:sp>
        <p:nvSpPr>
          <p:cNvPr id="3" name="Text 1"/>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Alignment with UN SDGs</a:t>
            </a:r>
            <a:endParaRPr lang="en-US" sz="2800" dirty="0"/>
          </a:p>
        </p:txBody>
      </p:sp>
      <p:sp>
        <p:nvSpPr>
          <p:cNvPr id="4" name="Text 2"/>
          <p:cNvSpPr/>
          <p:nvPr/>
        </p:nvSpPr>
        <p:spPr>
          <a:xfrm>
            <a:off x="548640" y="1371600"/>
            <a:ext cx="11064240" cy="320040"/>
          </a:xfrm>
          <a:prstGeom prst="rect">
            <a:avLst/>
          </a:prstGeom>
          <a:noFill/>
          <a:ln/>
        </p:spPr>
        <p:txBody>
          <a:bodyPr wrap="square" rtlCol="0" anchor="ctr"/>
          <a:lstStyle/>
          <a:p>
            <a:pPr marL="0" indent="0">
              <a:buNone/>
            </a:pPr>
            <a:r>
              <a:rPr lang="en-US" sz="1500" dirty="0">
                <a:solidFill>
                  <a:srgbClr val="1A1A2E"/>
                </a:solidFill>
                <a:latin typeface="Calibri" pitchFamily="34" charset="0"/>
                <a:ea typeface="Calibri" pitchFamily="34" charset="-122"/>
                <a:cs typeface="Calibri" pitchFamily="34" charset="-120"/>
              </a:rPr>
              <a:t>This DNS Client–Server project connects to two UN Sustainable Development Goals:</a:t>
            </a:r>
            <a:endParaRPr lang="en-US" sz="1500" dirty="0"/>
          </a:p>
        </p:txBody>
      </p:sp>
      <p:sp>
        <p:nvSpPr>
          <p:cNvPr id="5" name="Shape 3"/>
          <p:cNvSpPr/>
          <p:nvPr/>
        </p:nvSpPr>
        <p:spPr>
          <a:xfrm>
            <a:off x="548640" y="1965960"/>
            <a:ext cx="5349240" cy="4023360"/>
          </a:xfrm>
          <a:prstGeom prst="roundRect">
            <a:avLst>
              <a:gd name="adj" fmla="val 4762"/>
            </a:avLst>
          </a:prstGeom>
          <a:solidFill>
            <a:srgbClr val="EEF2FA"/>
          </a:solidFill>
          <a:ln/>
        </p:spPr>
      </p:sp>
      <p:sp>
        <p:nvSpPr>
          <p:cNvPr id="6" name="Text 4"/>
          <p:cNvSpPr/>
          <p:nvPr/>
        </p:nvSpPr>
        <p:spPr>
          <a:xfrm>
            <a:off x="868680" y="2240280"/>
            <a:ext cx="4754880" cy="320040"/>
          </a:xfrm>
          <a:prstGeom prst="rect">
            <a:avLst/>
          </a:prstGeom>
          <a:noFill/>
          <a:ln/>
        </p:spPr>
        <p:txBody>
          <a:bodyPr wrap="square" rtlCol="0" anchor="ctr"/>
          <a:lstStyle/>
          <a:p>
            <a:pPr marL="0" indent="0">
              <a:buNone/>
            </a:pPr>
            <a:r>
              <a:rPr lang="en-US" sz="1300" b="1" spc="50" dirty="0">
                <a:solidFill>
                  <a:srgbClr val="2E5EAA"/>
                </a:solidFill>
                <a:latin typeface="Calibri" pitchFamily="34" charset="0"/>
                <a:ea typeface="Calibri" pitchFamily="34" charset="-122"/>
                <a:cs typeface="Calibri" pitchFamily="34" charset="-120"/>
              </a:rPr>
              <a:t>SDG 9</a:t>
            </a:r>
            <a:endParaRPr lang="en-US" sz="1300" b="1" dirty="0"/>
          </a:p>
        </p:txBody>
      </p:sp>
      <p:sp>
        <p:nvSpPr>
          <p:cNvPr id="7" name="Text 5"/>
          <p:cNvSpPr/>
          <p:nvPr/>
        </p:nvSpPr>
        <p:spPr>
          <a:xfrm>
            <a:off x="868680" y="2651760"/>
            <a:ext cx="4754880" cy="548640"/>
          </a:xfrm>
          <a:prstGeom prst="rect">
            <a:avLst/>
          </a:prstGeom>
          <a:noFill/>
          <a:ln/>
        </p:spPr>
        <p:txBody>
          <a:bodyPr wrap="square" rtlCol="0" anchor="ctr"/>
          <a:lstStyle/>
          <a:p>
            <a:pPr marL="0" indent="0">
              <a:lnSpc>
                <a:spcPct val="115000"/>
              </a:lnSpc>
              <a:buNone/>
            </a:pPr>
            <a:r>
              <a:rPr lang="en-US" sz="1500" b="1" dirty="0">
                <a:solidFill>
                  <a:srgbClr val="1A1A2E"/>
                </a:solidFill>
                <a:latin typeface="Calibri" pitchFamily="34" charset="0"/>
                <a:ea typeface="Calibri" pitchFamily="34" charset="-122"/>
                <a:cs typeface="Calibri" pitchFamily="34" charset="-120"/>
              </a:rPr>
              <a:t>Industry, Innovation &amp; Infrastructure</a:t>
            </a:r>
            <a:endParaRPr lang="en-US" sz="1500" b="1" dirty="0"/>
          </a:p>
        </p:txBody>
      </p:sp>
      <p:sp>
        <p:nvSpPr>
          <p:cNvPr id="8" name="Text 6"/>
          <p:cNvSpPr/>
          <p:nvPr/>
        </p:nvSpPr>
        <p:spPr>
          <a:xfrm>
            <a:off x="868680" y="3337560"/>
            <a:ext cx="4754880" cy="320040"/>
          </a:xfrm>
          <a:prstGeom prst="rect">
            <a:avLst/>
          </a:prstGeom>
          <a:noFill/>
          <a:ln/>
        </p:spPr>
        <p:txBody>
          <a:bodyPr wrap="square" rtlCol="0" anchor="ctr"/>
          <a:lstStyle/>
          <a:p>
            <a:pPr marL="0" indent="0">
              <a:buNone/>
            </a:pPr>
            <a:r>
              <a:rPr lang="en-US" sz="1150" b="1" spc="75" dirty="0">
                <a:solidFill>
                  <a:srgbClr val="2E5EAA"/>
                </a:solidFill>
                <a:latin typeface="Calibri" pitchFamily="34" charset="0"/>
                <a:ea typeface="Calibri" pitchFamily="34" charset="-122"/>
                <a:cs typeface="Calibri" pitchFamily="34" charset="-120"/>
              </a:rPr>
              <a:t>TARGET 9.C</a:t>
            </a:r>
            <a:endParaRPr lang="en-US" sz="1150" b="1" dirty="0"/>
          </a:p>
        </p:txBody>
      </p:sp>
      <p:sp>
        <p:nvSpPr>
          <p:cNvPr id="9" name="Text 7"/>
          <p:cNvSpPr/>
          <p:nvPr/>
        </p:nvSpPr>
        <p:spPr>
          <a:xfrm>
            <a:off x="868680" y="3703320"/>
            <a:ext cx="4754880" cy="685800"/>
          </a:xfrm>
          <a:prstGeom prst="rect">
            <a:avLst/>
          </a:prstGeom>
          <a:noFill/>
          <a:ln/>
        </p:spPr>
        <p:txBody>
          <a:bodyPr wrap="square" rtlCol="0" anchor="ctr"/>
          <a:lstStyle/>
          <a:p>
            <a:pPr marL="0" indent="0">
              <a:lnSpc>
                <a:spcPct val="125000"/>
              </a:lnSpc>
              <a:buNone/>
            </a:pPr>
            <a:r>
              <a:rPr lang="en-US" sz="1200" dirty="0">
                <a:solidFill>
                  <a:srgbClr val="1A1A2E"/>
                </a:solidFill>
                <a:latin typeface="Calibri" pitchFamily="34" charset="0"/>
                <a:ea typeface="Calibri" pitchFamily="34" charset="-122"/>
                <a:cs typeface="Calibri" pitchFamily="34" charset="-120"/>
              </a:rPr>
              <a:t>Expand access to information and communications technology, working toward affordable, universal internet access.</a:t>
            </a:r>
            <a:endParaRPr lang="en-US" sz="1200" dirty="0"/>
          </a:p>
        </p:txBody>
      </p:sp>
      <p:sp>
        <p:nvSpPr>
          <p:cNvPr id="10" name="Text 8"/>
          <p:cNvSpPr/>
          <p:nvPr/>
        </p:nvSpPr>
        <p:spPr>
          <a:xfrm>
            <a:off x="868680" y="4526280"/>
            <a:ext cx="4754880" cy="320040"/>
          </a:xfrm>
          <a:prstGeom prst="rect">
            <a:avLst/>
          </a:prstGeom>
          <a:noFill/>
          <a:ln/>
        </p:spPr>
        <p:txBody>
          <a:bodyPr wrap="square" rtlCol="0" anchor="ctr"/>
          <a:lstStyle/>
          <a:p>
            <a:pPr marL="0" indent="0">
              <a:buNone/>
            </a:pPr>
            <a:r>
              <a:rPr lang="en-US" sz="1150" b="1" spc="75" dirty="0">
                <a:solidFill>
                  <a:srgbClr val="2E5EAA"/>
                </a:solidFill>
                <a:latin typeface="Calibri" pitchFamily="34" charset="0"/>
                <a:ea typeface="Calibri" pitchFamily="34" charset="-122"/>
                <a:cs typeface="Calibri" pitchFamily="34" charset="-120"/>
              </a:rPr>
              <a:t>OUTCOME</a:t>
            </a:r>
            <a:endParaRPr lang="en-US" sz="1150" b="1" dirty="0"/>
          </a:p>
        </p:txBody>
      </p:sp>
      <p:sp>
        <p:nvSpPr>
          <p:cNvPr id="11" name="Text 9"/>
          <p:cNvSpPr/>
          <p:nvPr/>
        </p:nvSpPr>
        <p:spPr>
          <a:xfrm>
            <a:off x="868680" y="4892040"/>
            <a:ext cx="4754880" cy="822960"/>
          </a:xfrm>
          <a:prstGeom prst="rect">
            <a:avLst/>
          </a:prstGeom>
          <a:noFill/>
          <a:ln/>
        </p:spPr>
        <p:txBody>
          <a:bodyPr wrap="square" rtlCol="0" anchor="ctr"/>
          <a:lstStyle/>
          <a:p>
            <a:pPr marL="0" indent="0">
              <a:lnSpc>
                <a:spcPct val="125000"/>
              </a:lnSpc>
              <a:buNone/>
            </a:pPr>
            <a:r>
              <a:rPr lang="en-US" sz="1200" dirty="0">
                <a:solidFill>
                  <a:srgbClr val="1A1A2E"/>
                </a:solidFill>
                <a:latin typeface="Calibri" pitchFamily="34" charset="0"/>
                <a:ea typeface="Calibri" pitchFamily="34" charset="-122"/>
                <a:cs typeface="Calibri" pitchFamily="34" charset="-120"/>
              </a:rPr>
              <a:t>The client–server model built here performs domain name resolution — a core function of the addressing infrastructure that makes the internet usable.</a:t>
            </a:r>
            <a:endParaRPr lang="en-US" sz="1200" dirty="0"/>
          </a:p>
        </p:txBody>
      </p:sp>
      <p:sp>
        <p:nvSpPr>
          <p:cNvPr id="12" name="Shape 10"/>
          <p:cNvSpPr/>
          <p:nvPr/>
        </p:nvSpPr>
        <p:spPr>
          <a:xfrm>
            <a:off x="6263640" y="1965960"/>
            <a:ext cx="5349240" cy="4023360"/>
          </a:xfrm>
          <a:prstGeom prst="roundRect">
            <a:avLst>
              <a:gd name="adj" fmla="val 4762"/>
            </a:avLst>
          </a:prstGeom>
          <a:solidFill>
            <a:srgbClr val="EEF2FA"/>
          </a:solidFill>
          <a:ln/>
        </p:spPr>
      </p:sp>
      <p:sp>
        <p:nvSpPr>
          <p:cNvPr id="13" name="Text 11"/>
          <p:cNvSpPr/>
          <p:nvPr/>
        </p:nvSpPr>
        <p:spPr>
          <a:xfrm>
            <a:off x="6583680" y="2240280"/>
            <a:ext cx="4754880" cy="320040"/>
          </a:xfrm>
          <a:prstGeom prst="rect">
            <a:avLst/>
          </a:prstGeom>
          <a:noFill/>
          <a:ln/>
        </p:spPr>
        <p:txBody>
          <a:bodyPr wrap="square" rtlCol="0" anchor="ctr"/>
          <a:lstStyle/>
          <a:p>
            <a:pPr marL="0" indent="0">
              <a:buNone/>
            </a:pPr>
            <a:r>
              <a:rPr lang="en-US" sz="1300" b="1" spc="50" dirty="0">
                <a:solidFill>
                  <a:srgbClr val="2E5EAA"/>
                </a:solidFill>
                <a:latin typeface="Calibri" pitchFamily="34" charset="0"/>
                <a:ea typeface="Calibri" pitchFamily="34" charset="-122"/>
                <a:cs typeface="Calibri" pitchFamily="34" charset="-120"/>
              </a:rPr>
              <a:t>SDG 4</a:t>
            </a:r>
            <a:endParaRPr lang="en-US" sz="1300" b="1" dirty="0"/>
          </a:p>
        </p:txBody>
      </p:sp>
      <p:sp>
        <p:nvSpPr>
          <p:cNvPr id="14" name="Text 12"/>
          <p:cNvSpPr/>
          <p:nvPr/>
        </p:nvSpPr>
        <p:spPr>
          <a:xfrm>
            <a:off x="6583680" y="2651760"/>
            <a:ext cx="4754880" cy="548640"/>
          </a:xfrm>
          <a:prstGeom prst="rect">
            <a:avLst/>
          </a:prstGeom>
          <a:noFill/>
          <a:ln/>
        </p:spPr>
        <p:txBody>
          <a:bodyPr wrap="square" rtlCol="0" anchor="ctr"/>
          <a:lstStyle/>
          <a:p>
            <a:pPr marL="0" indent="0">
              <a:lnSpc>
                <a:spcPct val="115000"/>
              </a:lnSpc>
              <a:buNone/>
            </a:pPr>
            <a:r>
              <a:rPr lang="en-US" sz="1500" b="1" dirty="0">
                <a:solidFill>
                  <a:srgbClr val="1A1A2E"/>
                </a:solidFill>
                <a:latin typeface="Calibri" pitchFamily="34" charset="0"/>
                <a:ea typeface="Calibri" pitchFamily="34" charset="-122"/>
                <a:cs typeface="Calibri" pitchFamily="34" charset="-120"/>
              </a:rPr>
              <a:t>Quality Education</a:t>
            </a:r>
            <a:endParaRPr lang="en-US" sz="1500" b="1" dirty="0"/>
          </a:p>
        </p:txBody>
      </p:sp>
      <p:sp>
        <p:nvSpPr>
          <p:cNvPr id="15" name="Text 13"/>
          <p:cNvSpPr/>
          <p:nvPr/>
        </p:nvSpPr>
        <p:spPr>
          <a:xfrm>
            <a:off x="6583680" y="3337560"/>
            <a:ext cx="4754880" cy="320040"/>
          </a:xfrm>
          <a:prstGeom prst="rect">
            <a:avLst/>
          </a:prstGeom>
          <a:noFill/>
          <a:ln/>
        </p:spPr>
        <p:txBody>
          <a:bodyPr wrap="square" rtlCol="0" anchor="ctr"/>
          <a:lstStyle/>
          <a:p>
            <a:pPr marL="0" indent="0">
              <a:buNone/>
            </a:pPr>
            <a:r>
              <a:rPr lang="en-US" sz="1150" b="1" spc="75" dirty="0">
                <a:solidFill>
                  <a:srgbClr val="2E5EAA"/>
                </a:solidFill>
                <a:latin typeface="Calibri" pitchFamily="34" charset="0"/>
                <a:ea typeface="Calibri" pitchFamily="34" charset="-122"/>
                <a:cs typeface="Calibri" pitchFamily="34" charset="-120"/>
              </a:rPr>
              <a:t>TARGET 4.4</a:t>
            </a:r>
            <a:endParaRPr lang="en-US" sz="1150" b="1" dirty="0"/>
          </a:p>
        </p:txBody>
      </p:sp>
      <p:sp>
        <p:nvSpPr>
          <p:cNvPr id="16" name="Text 14"/>
          <p:cNvSpPr/>
          <p:nvPr/>
        </p:nvSpPr>
        <p:spPr>
          <a:xfrm>
            <a:off x="6583680" y="3703320"/>
            <a:ext cx="4754880" cy="685800"/>
          </a:xfrm>
          <a:prstGeom prst="rect">
            <a:avLst/>
          </a:prstGeom>
          <a:noFill/>
          <a:ln/>
        </p:spPr>
        <p:txBody>
          <a:bodyPr wrap="square" rtlCol="0" anchor="ctr"/>
          <a:lstStyle/>
          <a:p>
            <a:pPr marL="0" indent="0">
              <a:lnSpc>
                <a:spcPct val="125000"/>
              </a:lnSpc>
              <a:buNone/>
            </a:pPr>
            <a:r>
              <a:rPr lang="en-US" sz="1200" dirty="0">
                <a:solidFill>
                  <a:srgbClr val="1A1A2E"/>
                </a:solidFill>
                <a:latin typeface="Calibri" pitchFamily="34" charset="0"/>
                <a:ea typeface="Calibri" pitchFamily="34" charset="-122"/>
                <a:cs typeface="Calibri" pitchFamily="34" charset="-120"/>
              </a:rPr>
              <a:t>Grow the number of youth and adults with relevant technical and vocational skills for employment.</a:t>
            </a:r>
            <a:endParaRPr lang="en-US" sz="1200" dirty="0"/>
          </a:p>
        </p:txBody>
      </p:sp>
      <p:sp>
        <p:nvSpPr>
          <p:cNvPr id="17" name="Text 15"/>
          <p:cNvSpPr/>
          <p:nvPr/>
        </p:nvSpPr>
        <p:spPr>
          <a:xfrm>
            <a:off x="6583680" y="4526280"/>
            <a:ext cx="4754880" cy="320040"/>
          </a:xfrm>
          <a:prstGeom prst="rect">
            <a:avLst/>
          </a:prstGeom>
          <a:noFill/>
          <a:ln/>
        </p:spPr>
        <p:txBody>
          <a:bodyPr wrap="square" rtlCol="0" anchor="ctr"/>
          <a:lstStyle/>
          <a:p>
            <a:pPr marL="0" indent="0">
              <a:buNone/>
            </a:pPr>
            <a:r>
              <a:rPr lang="en-US" sz="1150" b="1" spc="75" dirty="0">
                <a:solidFill>
                  <a:srgbClr val="2E5EAA"/>
                </a:solidFill>
                <a:latin typeface="Calibri" pitchFamily="34" charset="0"/>
                <a:ea typeface="Calibri" pitchFamily="34" charset="-122"/>
                <a:cs typeface="Calibri" pitchFamily="34" charset="-120"/>
              </a:rPr>
              <a:t>OUTCOME</a:t>
            </a:r>
            <a:endParaRPr lang="en-US" sz="1150" b="1" dirty="0"/>
          </a:p>
        </p:txBody>
      </p:sp>
      <p:sp>
        <p:nvSpPr>
          <p:cNvPr id="18" name="Text 16"/>
          <p:cNvSpPr/>
          <p:nvPr/>
        </p:nvSpPr>
        <p:spPr>
          <a:xfrm>
            <a:off x="6583680" y="4892040"/>
            <a:ext cx="4754880" cy="822960"/>
          </a:xfrm>
          <a:prstGeom prst="rect">
            <a:avLst/>
          </a:prstGeom>
          <a:noFill/>
          <a:ln/>
        </p:spPr>
        <p:txBody>
          <a:bodyPr wrap="square" rtlCol="0" anchor="ctr"/>
          <a:lstStyle/>
          <a:p>
            <a:pPr marL="0" indent="0">
              <a:lnSpc>
                <a:spcPct val="125000"/>
              </a:lnSpc>
              <a:buNone/>
            </a:pPr>
            <a:r>
              <a:rPr lang="en-US" sz="1200" dirty="0">
                <a:solidFill>
                  <a:srgbClr val="1A1A2E"/>
                </a:solidFill>
                <a:latin typeface="Calibri" pitchFamily="34" charset="0"/>
                <a:ea typeface="Calibri" pitchFamily="34" charset="-122"/>
                <a:cs typeface="Calibri" pitchFamily="34" charset="-120"/>
              </a:rPr>
              <a:t>Designing the client and server from scratch builds hands-on skills in sockets, protocols, and system design — direct preparation for a networking career.</a:t>
            </a:r>
            <a:endParaRPr lang="en-US" sz="1200" dirty="0"/>
          </a:p>
        </p:txBody>
      </p:sp>
      <p:sp>
        <p:nvSpPr>
          <p:cNvPr id="19" name="Text 17"/>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TECHNOLOGY READINESS</a:t>
            </a:r>
            <a:endParaRPr lang="en-US" sz="1200" dirty="0"/>
          </a:p>
        </p:txBody>
      </p:sp>
      <p:sp>
        <p:nvSpPr>
          <p:cNvPr id="3" name="Text 1"/>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TRL Assessment</a:t>
            </a:r>
            <a:endParaRPr lang="en-US" sz="2800" dirty="0"/>
          </a:p>
        </p:txBody>
      </p:sp>
      <p:sp>
        <p:nvSpPr>
          <p:cNvPr id="4" name="Text 2"/>
          <p:cNvSpPr/>
          <p:nvPr/>
        </p:nvSpPr>
        <p:spPr>
          <a:xfrm>
            <a:off x="548640" y="1371600"/>
            <a:ext cx="11064240" cy="1005840"/>
          </a:xfrm>
          <a:prstGeom prst="rect">
            <a:avLst/>
          </a:prstGeom>
          <a:noFill/>
          <a:ln/>
        </p:spPr>
        <p:txBody>
          <a:bodyPr wrap="square" rtlCol="0" anchor="ctr"/>
          <a:lstStyle/>
          <a:p>
            <a:pPr marL="0" indent="0">
              <a:lnSpc>
                <a:spcPct val="130000"/>
              </a:lnSpc>
              <a:buNone/>
            </a:pPr>
            <a:r>
              <a:rPr lang="en-US" sz="1500" dirty="0">
                <a:solidFill>
                  <a:srgbClr val="1A1A2E"/>
                </a:solidFill>
                <a:latin typeface="Calibri" pitchFamily="34" charset="0"/>
                <a:ea typeface="Calibri" pitchFamily="34" charset="-122"/>
                <a:cs typeface="Calibri" pitchFamily="34" charset="-120"/>
              </a:rPr>
              <a:t>The project is assessed against the standard 9-point Technology Readiness Level (TRL) scale used to gauge the maturity of a technology, from basic research through to full deployment.</a:t>
            </a:r>
            <a:endParaRPr lang="en-US" sz="1500" dirty="0"/>
          </a:p>
        </p:txBody>
      </p:sp>
      <p:sp>
        <p:nvSpPr>
          <p:cNvPr id="5" name="Shape 3"/>
          <p:cNvSpPr/>
          <p:nvPr/>
        </p:nvSpPr>
        <p:spPr>
          <a:xfrm>
            <a:off x="548640" y="2651760"/>
            <a:ext cx="5349240" cy="1920240"/>
          </a:xfrm>
          <a:prstGeom prst="roundRect">
            <a:avLst>
              <a:gd name="adj" fmla="val 4762"/>
            </a:avLst>
          </a:prstGeom>
          <a:solidFill>
            <a:srgbClr val="EEF2FA"/>
          </a:solidFill>
          <a:ln/>
        </p:spPr>
      </p:sp>
      <p:sp>
        <p:nvSpPr>
          <p:cNvPr id="6" name="Text 4"/>
          <p:cNvSpPr/>
          <p:nvPr/>
        </p:nvSpPr>
        <p:spPr>
          <a:xfrm>
            <a:off x="868680" y="2834640"/>
            <a:ext cx="4754880" cy="365760"/>
          </a:xfrm>
          <a:prstGeom prst="rect">
            <a:avLst/>
          </a:prstGeom>
          <a:noFill/>
          <a:ln/>
        </p:spPr>
        <p:txBody>
          <a:bodyPr wrap="square" rtlCol="0" anchor="ctr"/>
          <a:lstStyle/>
          <a:p>
            <a:pPr marL="0" indent="0">
              <a:buNone/>
            </a:pPr>
            <a:r>
              <a:rPr lang="en-US" sz="1600" b="1" dirty="0">
                <a:solidFill>
                  <a:srgbClr val="2E5EAA"/>
                </a:solidFill>
                <a:latin typeface="Calibri" pitchFamily="34" charset="0"/>
                <a:ea typeface="Calibri" pitchFamily="34" charset="-122"/>
                <a:cs typeface="Calibri" pitchFamily="34" charset="-120"/>
              </a:rPr>
              <a:t>TRL 4 — Validated in a Lab</a:t>
            </a:r>
            <a:endParaRPr lang="en-US" sz="1600" dirty="0"/>
          </a:p>
        </p:txBody>
      </p:sp>
      <p:sp>
        <p:nvSpPr>
          <p:cNvPr id="7" name="Text 5"/>
          <p:cNvSpPr/>
          <p:nvPr/>
        </p:nvSpPr>
        <p:spPr>
          <a:xfrm>
            <a:off x="868680" y="3246120"/>
            <a:ext cx="4754880" cy="1188720"/>
          </a:xfrm>
          <a:prstGeom prst="rect">
            <a:avLst/>
          </a:prstGeom>
          <a:noFill/>
          <a:ln/>
        </p:spPr>
        <p:txBody>
          <a:bodyPr wrap="square" rtlCol="0" anchor="ctr"/>
          <a:lstStyle/>
          <a:p>
            <a:pPr marL="0" indent="0">
              <a:lnSpc>
                <a:spcPct val="130000"/>
              </a:lnSpc>
              <a:buNone/>
            </a:pPr>
            <a:r>
              <a:rPr lang="en-US" sz="1300" dirty="0">
                <a:solidFill>
                  <a:srgbClr val="1A1A2E"/>
                </a:solidFill>
                <a:latin typeface="Calibri" pitchFamily="34" charset="0"/>
                <a:ea typeface="Calibri" pitchFamily="34" charset="-122"/>
                <a:cs typeface="Calibri" pitchFamily="34" charset="-120"/>
              </a:rPr>
              <a:t>Technology validated in a lab: the client and server have been built and demonstrated in a lab/development setting, not yet in a live or operational environment.</a:t>
            </a:r>
            <a:endParaRPr lang="en-US" sz="1300" dirty="0"/>
          </a:p>
        </p:txBody>
      </p:sp>
      <p:sp>
        <p:nvSpPr>
          <p:cNvPr id="8" name="Shape 6"/>
          <p:cNvSpPr/>
          <p:nvPr/>
        </p:nvSpPr>
        <p:spPr>
          <a:xfrm>
            <a:off x="6263640" y="2651760"/>
            <a:ext cx="5349240" cy="1920240"/>
          </a:xfrm>
          <a:prstGeom prst="roundRect">
            <a:avLst>
              <a:gd name="adj" fmla="val 4762"/>
            </a:avLst>
          </a:prstGeom>
          <a:solidFill>
            <a:srgbClr val="EEF2FA"/>
          </a:solidFill>
          <a:ln/>
        </p:spPr>
      </p:sp>
      <p:sp>
        <p:nvSpPr>
          <p:cNvPr id="9" name="Text 7"/>
          <p:cNvSpPr/>
          <p:nvPr/>
        </p:nvSpPr>
        <p:spPr>
          <a:xfrm>
            <a:off x="6583680" y="2834640"/>
            <a:ext cx="4754880" cy="365760"/>
          </a:xfrm>
          <a:prstGeom prst="rect">
            <a:avLst/>
          </a:prstGeom>
          <a:noFill/>
          <a:ln/>
        </p:spPr>
        <p:txBody>
          <a:bodyPr wrap="square" rtlCol="0" anchor="ctr"/>
          <a:lstStyle/>
          <a:p>
            <a:pPr marL="0" indent="0">
              <a:buNone/>
            </a:pPr>
            <a:r>
              <a:rPr lang="en-US" sz="1600" b="1" dirty="0">
                <a:solidFill>
                  <a:srgbClr val="2E5EAA"/>
                </a:solidFill>
                <a:latin typeface="Calibri" pitchFamily="34" charset="0"/>
                <a:ea typeface="Calibri" pitchFamily="34" charset="-122"/>
                <a:cs typeface="Calibri" pitchFamily="34" charset="-120"/>
              </a:rPr>
              <a:t>Why TRL 4</a:t>
            </a:r>
            <a:endParaRPr lang="en-US" sz="1600" dirty="0"/>
          </a:p>
        </p:txBody>
      </p:sp>
      <p:sp>
        <p:nvSpPr>
          <p:cNvPr id="10" name="Text 8"/>
          <p:cNvSpPr/>
          <p:nvPr/>
        </p:nvSpPr>
        <p:spPr>
          <a:xfrm>
            <a:off x="6583680" y="3246120"/>
            <a:ext cx="4754880" cy="1188720"/>
          </a:xfrm>
          <a:prstGeom prst="rect">
            <a:avLst/>
          </a:prstGeom>
          <a:noFill/>
          <a:ln/>
        </p:spPr>
        <p:txBody>
          <a:bodyPr wrap="square" rtlCol="0" anchor="ctr"/>
          <a:lstStyle/>
          <a:p>
            <a:pPr marL="0" indent="0">
              <a:lnSpc>
                <a:spcPct val="130000"/>
              </a:lnSpc>
              <a:buNone/>
            </a:pPr>
            <a:r>
              <a:rPr lang="en-US" sz="1300" dirty="0">
                <a:solidFill>
                  <a:srgbClr val="1A1A2E"/>
                </a:solidFill>
                <a:latin typeface="Calibri" pitchFamily="34" charset="0"/>
                <a:ea typeface="Calibri" pitchFamily="34" charset="-122"/>
                <a:cs typeface="Calibri" pitchFamily="34" charset="-120"/>
              </a:rPr>
              <a:t>The client and server were integrated and tested end-to-end on a local machine, successfully resolving domain names to IP addresses — meeting the bar of lab-based validation, ahead of field or operational testing.</a:t>
            </a:r>
            <a:endParaRPr lang="en-US" sz="1300" dirty="0"/>
          </a:p>
        </p:txBody>
      </p:sp>
      <p:sp>
        <p:nvSpPr>
          <p:cNvPr id="11" name="Text 9"/>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DISSEMINATION</a:t>
            </a:r>
            <a:endParaRPr lang="en-US" sz="1200" dirty="0"/>
          </a:p>
        </p:txBody>
      </p:sp>
      <p:sp>
        <p:nvSpPr>
          <p:cNvPr id="3" name="Text 1"/>
          <p:cNvSpPr/>
          <p:nvPr/>
        </p:nvSpPr>
        <p:spPr>
          <a:xfrm>
            <a:off x="548640" y="457200"/>
            <a:ext cx="11064240" cy="640080"/>
          </a:xfrm>
          <a:prstGeom prst="rect">
            <a:avLst/>
          </a:prstGeom>
          <a:noFill/>
          <a:ln/>
        </p:spPr>
        <p:txBody>
          <a:bodyPr wrap="square" rtlCol="0" anchor="ctr"/>
          <a:lstStyle/>
          <a:p>
            <a:r>
              <a:rPr lang="en-IN" sz="2800" b="1" dirty="0">
                <a:solidFill>
                  <a:schemeClr val="accent1">
                    <a:lumMod val="75000"/>
                  </a:schemeClr>
                </a:solidFill>
              </a:rPr>
              <a:t>Journal Paper Summary: DNS Client-Server Application</a:t>
            </a:r>
            <a:endParaRPr lang="en-US" sz="2800" b="1" dirty="0">
              <a:solidFill>
                <a:schemeClr val="accent1">
                  <a:lumMod val="75000"/>
                </a:schemeClr>
              </a:solidFill>
            </a:endParaRPr>
          </a:p>
        </p:txBody>
      </p:sp>
      <p:sp>
        <p:nvSpPr>
          <p:cNvPr id="5" name="Shape 3"/>
          <p:cNvSpPr/>
          <p:nvPr/>
        </p:nvSpPr>
        <p:spPr>
          <a:xfrm>
            <a:off x="548639" y="1513425"/>
            <a:ext cx="11064241" cy="4590661"/>
          </a:xfrm>
          <a:prstGeom prst="roundRect">
            <a:avLst>
              <a:gd name="adj" fmla="val 4762"/>
            </a:avLst>
          </a:prstGeom>
          <a:solidFill>
            <a:srgbClr val="EEF2FA"/>
          </a:solidFill>
          <a:ln/>
        </p:spPr>
      </p:sp>
      <p:sp>
        <p:nvSpPr>
          <p:cNvPr id="6" name="Text 4"/>
          <p:cNvSpPr/>
          <p:nvPr/>
        </p:nvSpPr>
        <p:spPr>
          <a:xfrm>
            <a:off x="716280" y="1954670"/>
            <a:ext cx="4754880" cy="365760"/>
          </a:xfrm>
          <a:prstGeom prst="rect">
            <a:avLst/>
          </a:prstGeom>
          <a:noFill/>
          <a:ln/>
        </p:spPr>
        <p:txBody>
          <a:bodyPr wrap="square" rtlCol="0" anchor="ctr"/>
          <a:lstStyle/>
          <a:p>
            <a:pPr marL="0" indent="0">
              <a:buNone/>
            </a:pPr>
            <a:r>
              <a:rPr lang="en-US" sz="1600" b="1" dirty="0">
                <a:solidFill>
                  <a:srgbClr val="2E5EAA"/>
                </a:solidFill>
                <a:latin typeface="Calibri" pitchFamily="34" charset="0"/>
                <a:ea typeface="Calibri" pitchFamily="34" charset="-122"/>
                <a:cs typeface="Calibri" pitchFamily="34" charset="-120"/>
              </a:rPr>
              <a:t>Journal Paper — Planned</a:t>
            </a:r>
            <a:endParaRPr lang="en-US" sz="1600" dirty="0"/>
          </a:p>
        </p:txBody>
      </p:sp>
      <p:sp>
        <p:nvSpPr>
          <p:cNvPr id="7" name="Text 5"/>
          <p:cNvSpPr/>
          <p:nvPr/>
        </p:nvSpPr>
        <p:spPr>
          <a:xfrm>
            <a:off x="716280" y="2137550"/>
            <a:ext cx="10281402" cy="3296132"/>
          </a:xfrm>
          <a:prstGeom prst="rect">
            <a:avLst/>
          </a:prstGeom>
          <a:noFill/>
          <a:ln/>
        </p:spPr>
        <p:txBody>
          <a:bodyPr wrap="square" rtlCol="0" anchor="ctr"/>
          <a:lstStyle/>
          <a:p>
            <a:pPr>
              <a:lnSpc>
                <a:spcPct val="130000"/>
              </a:lnSpc>
            </a:pPr>
            <a:r>
              <a:rPr lang="en-IN" sz="1400" b="1" dirty="0">
                <a:solidFill>
                  <a:schemeClr val="accent1">
                    <a:lumMod val="75000"/>
                  </a:schemeClr>
                </a:solidFill>
              </a:rPr>
              <a:t>Introduction &amp; Objective</a:t>
            </a:r>
            <a:r>
              <a:rPr lang="en-IN" sz="1400" dirty="0">
                <a:solidFill>
                  <a:schemeClr val="accent1">
                    <a:lumMod val="75000"/>
                  </a:schemeClr>
                </a:solidFill>
              </a:rPr>
              <a:t>: </a:t>
            </a:r>
            <a:r>
              <a:rPr lang="en-IN" sz="1400" dirty="0"/>
              <a:t>The project explores the fundamental mechanics of the Domain Name System (DNS) by implementing a lightweight, educational client-server application that resolves domain names into their corresponding IP addresses.</a:t>
            </a:r>
          </a:p>
          <a:p>
            <a:pPr>
              <a:lnSpc>
                <a:spcPct val="130000"/>
              </a:lnSpc>
            </a:pPr>
            <a:endParaRPr lang="en-IN" sz="1400" dirty="0"/>
          </a:p>
          <a:p>
            <a:pPr>
              <a:lnSpc>
                <a:spcPct val="130000"/>
              </a:lnSpc>
            </a:pPr>
            <a:r>
              <a:rPr lang="en-IN" sz="1400" b="1" dirty="0">
                <a:solidFill>
                  <a:schemeClr val="accent1">
                    <a:lumMod val="75000"/>
                  </a:schemeClr>
                </a:solidFill>
              </a:rPr>
              <a:t>Architecture &amp; Methodology</a:t>
            </a:r>
            <a:r>
              <a:rPr lang="en-IN" sz="1400" dirty="0">
                <a:solidFill>
                  <a:schemeClr val="accent1">
                    <a:lumMod val="75000"/>
                  </a:schemeClr>
                </a:solidFill>
              </a:rPr>
              <a:t>: </a:t>
            </a:r>
            <a:r>
              <a:rPr lang="en-IN" sz="1400" dirty="0"/>
              <a:t>Built using direct socket communication, the system features a client interface that accepts user domain queries, and a core server that processes incoming requests against a local database to return matching IP addresses or a "Domain Not Found" message.</a:t>
            </a:r>
          </a:p>
          <a:p>
            <a:pPr>
              <a:lnSpc>
                <a:spcPct val="130000"/>
              </a:lnSpc>
            </a:pPr>
            <a:endParaRPr lang="en-IN" sz="1400" dirty="0"/>
          </a:p>
          <a:p>
            <a:pPr>
              <a:lnSpc>
                <a:spcPct val="130000"/>
              </a:lnSpc>
            </a:pPr>
            <a:r>
              <a:rPr lang="en-IN" sz="1400" dirty="0">
                <a:solidFill>
                  <a:schemeClr val="accent1">
                    <a:lumMod val="75000"/>
                  </a:schemeClr>
                </a:solidFill>
              </a:rPr>
              <a:t> </a:t>
            </a:r>
            <a:r>
              <a:rPr lang="en-IN" sz="1400" b="1" dirty="0">
                <a:solidFill>
                  <a:schemeClr val="accent1">
                    <a:lumMod val="75000"/>
                  </a:schemeClr>
                </a:solidFill>
              </a:rPr>
              <a:t>Academic Relevance &amp; Significance</a:t>
            </a:r>
            <a:r>
              <a:rPr lang="en-IN" sz="1400" dirty="0">
                <a:solidFill>
                  <a:schemeClr val="accent1">
                    <a:lumMod val="75000"/>
                  </a:schemeClr>
                </a:solidFill>
              </a:rPr>
              <a:t>: </a:t>
            </a:r>
            <a:r>
              <a:rPr lang="en-IN" sz="1400" dirty="0"/>
              <a:t>Grounded in core internet standards (RFC 1034/1035) and networking principles, the application provides a simplified alternative to complex multi-tier global DNS hierarchies, making it ideal for academic study and foundational skill-building.</a:t>
            </a:r>
            <a:endParaRPr lang="en-US" sz="1300" dirty="0"/>
          </a:p>
        </p:txBody>
      </p:sp>
      <p:sp>
        <p:nvSpPr>
          <p:cNvPr id="11" name="Text 9"/>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56032"/>
            <a:ext cx="11064240" cy="274320"/>
          </a:xfrm>
          <a:prstGeom prst="rect">
            <a:avLst/>
          </a:prstGeom>
          <a:noFill/>
          <a:ln/>
        </p:spPr>
        <p:txBody>
          <a:bodyPr wrap="square" rtlCol="0" anchor="ctr"/>
          <a:lstStyle/>
          <a:p>
            <a:pPr marL="0" indent="0">
              <a:buNone/>
            </a:pPr>
            <a:r>
              <a:rPr lang="en-US" sz="1200" b="1" kern="0" spc="100" dirty="0">
                <a:solidFill>
                  <a:srgbClr val="2E5EAA"/>
                </a:solidFill>
                <a:latin typeface="Calibri" pitchFamily="34" charset="0"/>
                <a:ea typeface="Calibri" pitchFamily="34" charset="-122"/>
                <a:cs typeface="Calibri" pitchFamily="34" charset="-120"/>
              </a:rPr>
              <a:t>SOURCES</a:t>
            </a:r>
            <a:endParaRPr lang="en-US" sz="1200" dirty="0"/>
          </a:p>
        </p:txBody>
      </p:sp>
      <p:sp>
        <p:nvSpPr>
          <p:cNvPr id="3" name="Text 1"/>
          <p:cNvSpPr/>
          <p:nvPr/>
        </p:nvSpPr>
        <p:spPr>
          <a:xfrm>
            <a:off x="548640" y="457200"/>
            <a:ext cx="11064240" cy="64008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References</a:t>
            </a:r>
            <a:endParaRPr lang="en-US" sz="2800" dirty="0"/>
          </a:p>
        </p:txBody>
      </p:sp>
      <p:sp>
        <p:nvSpPr>
          <p:cNvPr id="4" name="Shape 2"/>
          <p:cNvSpPr/>
          <p:nvPr/>
        </p:nvSpPr>
        <p:spPr>
          <a:xfrm>
            <a:off x="548640" y="1645920"/>
            <a:ext cx="82296" cy="82296"/>
          </a:xfrm>
          <a:prstGeom prst="rect">
            <a:avLst/>
          </a:prstGeom>
          <a:solidFill>
            <a:srgbClr val="2E5EAA"/>
          </a:solidFill>
          <a:ln/>
        </p:spPr>
      </p:sp>
      <p:sp>
        <p:nvSpPr>
          <p:cNvPr id="5" name="Text 3"/>
          <p:cNvSpPr/>
          <p:nvPr/>
        </p:nvSpPr>
        <p:spPr>
          <a:xfrm>
            <a:off x="822960" y="1554480"/>
            <a:ext cx="10607040" cy="548640"/>
          </a:xfrm>
          <a:prstGeom prst="rect">
            <a:avLst/>
          </a:prstGeom>
          <a:noFill/>
          <a:ln/>
        </p:spPr>
        <p:txBody>
          <a:bodyPr wrap="square" rtlCol="0" anchor="ctr"/>
          <a:lstStyle/>
          <a:p>
            <a:pPr marL="0" indent="0">
              <a:lnSpc>
                <a:spcPct val="120000"/>
              </a:lnSpc>
              <a:buNone/>
            </a:pPr>
            <a:r>
              <a:rPr lang="en-US" sz="1400" dirty="0">
                <a:solidFill>
                  <a:srgbClr val="1A1A2E"/>
                </a:solidFill>
                <a:latin typeface="Calibri" pitchFamily="34" charset="0"/>
                <a:ea typeface="Calibri" pitchFamily="34" charset="-122"/>
                <a:cs typeface="Calibri" pitchFamily="34" charset="-120"/>
              </a:rPr>
              <a:t>RFC 1034 — Mockapetris, P. (1987). Domain Names: Concepts and Facilities. IETF.</a:t>
            </a:r>
            <a:endParaRPr lang="en-US" sz="1400" dirty="0"/>
          </a:p>
        </p:txBody>
      </p:sp>
      <p:sp>
        <p:nvSpPr>
          <p:cNvPr id="6" name="Shape 4"/>
          <p:cNvSpPr/>
          <p:nvPr/>
        </p:nvSpPr>
        <p:spPr>
          <a:xfrm>
            <a:off x="548640" y="2423160"/>
            <a:ext cx="82296" cy="82296"/>
          </a:xfrm>
          <a:prstGeom prst="rect">
            <a:avLst/>
          </a:prstGeom>
          <a:solidFill>
            <a:srgbClr val="2E5EAA"/>
          </a:solidFill>
          <a:ln/>
        </p:spPr>
      </p:sp>
      <p:sp>
        <p:nvSpPr>
          <p:cNvPr id="7" name="Text 5"/>
          <p:cNvSpPr/>
          <p:nvPr/>
        </p:nvSpPr>
        <p:spPr>
          <a:xfrm>
            <a:off x="822960" y="2331720"/>
            <a:ext cx="10607040" cy="548640"/>
          </a:xfrm>
          <a:prstGeom prst="rect">
            <a:avLst/>
          </a:prstGeom>
          <a:noFill/>
          <a:ln/>
        </p:spPr>
        <p:txBody>
          <a:bodyPr wrap="square" rtlCol="0" anchor="ctr"/>
          <a:lstStyle/>
          <a:p>
            <a:pPr marL="0" indent="0">
              <a:lnSpc>
                <a:spcPct val="120000"/>
              </a:lnSpc>
              <a:buNone/>
            </a:pPr>
            <a:r>
              <a:rPr lang="en-US" sz="1400" dirty="0">
                <a:solidFill>
                  <a:srgbClr val="1A1A2E"/>
                </a:solidFill>
                <a:latin typeface="Calibri" pitchFamily="34" charset="0"/>
                <a:ea typeface="Calibri" pitchFamily="34" charset="-122"/>
                <a:cs typeface="Calibri" pitchFamily="34" charset="-120"/>
              </a:rPr>
              <a:t>RFC 1035 — Mockapetris, P. (1987). Domain Names: Implementation and Specification. IETF.</a:t>
            </a:r>
            <a:endParaRPr lang="en-US" sz="1400" dirty="0"/>
          </a:p>
        </p:txBody>
      </p:sp>
      <p:sp>
        <p:nvSpPr>
          <p:cNvPr id="8" name="Shape 6"/>
          <p:cNvSpPr/>
          <p:nvPr/>
        </p:nvSpPr>
        <p:spPr>
          <a:xfrm>
            <a:off x="548640" y="3200400"/>
            <a:ext cx="82296" cy="82296"/>
          </a:xfrm>
          <a:prstGeom prst="rect">
            <a:avLst/>
          </a:prstGeom>
          <a:solidFill>
            <a:srgbClr val="2E5EAA"/>
          </a:solidFill>
          <a:ln/>
        </p:spPr>
      </p:sp>
      <p:sp>
        <p:nvSpPr>
          <p:cNvPr id="9" name="Text 7"/>
          <p:cNvSpPr/>
          <p:nvPr/>
        </p:nvSpPr>
        <p:spPr>
          <a:xfrm>
            <a:off x="822960" y="3108960"/>
            <a:ext cx="10607040" cy="548640"/>
          </a:xfrm>
          <a:prstGeom prst="rect">
            <a:avLst/>
          </a:prstGeom>
          <a:noFill/>
          <a:ln/>
        </p:spPr>
        <p:txBody>
          <a:bodyPr wrap="square" rtlCol="0" anchor="ctr"/>
          <a:lstStyle/>
          <a:p>
            <a:pPr marL="0" indent="0">
              <a:lnSpc>
                <a:spcPct val="120000"/>
              </a:lnSpc>
              <a:buNone/>
            </a:pPr>
            <a:r>
              <a:rPr lang="en-US" sz="1400" dirty="0">
                <a:solidFill>
                  <a:srgbClr val="1A1A2E"/>
                </a:solidFill>
                <a:latin typeface="Calibri" pitchFamily="34" charset="0"/>
                <a:ea typeface="Calibri" pitchFamily="34" charset="-122"/>
                <a:cs typeface="Calibri" pitchFamily="34" charset="-120"/>
              </a:rPr>
              <a:t>Kurose, J. F., &amp; Ross, K. W. — Computer Networking: A Top-Down Approach.</a:t>
            </a:r>
            <a:endParaRPr lang="en-US" sz="1400" dirty="0"/>
          </a:p>
        </p:txBody>
      </p:sp>
      <p:sp>
        <p:nvSpPr>
          <p:cNvPr id="10" name="Shape 8"/>
          <p:cNvSpPr/>
          <p:nvPr/>
        </p:nvSpPr>
        <p:spPr>
          <a:xfrm>
            <a:off x="548640" y="3977640"/>
            <a:ext cx="82296" cy="82296"/>
          </a:xfrm>
          <a:prstGeom prst="rect">
            <a:avLst/>
          </a:prstGeom>
          <a:solidFill>
            <a:srgbClr val="2E5EAA"/>
          </a:solidFill>
          <a:ln/>
        </p:spPr>
      </p:sp>
      <p:sp>
        <p:nvSpPr>
          <p:cNvPr id="11" name="Text 9"/>
          <p:cNvSpPr/>
          <p:nvPr/>
        </p:nvSpPr>
        <p:spPr>
          <a:xfrm>
            <a:off x="822960" y="3886200"/>
            <a:ext cx="10607040" cy="548640"/>
          </a:xfrm>
          <a:prstGeom prst="rect">
            <a:avLst/>
          </a:prstGeom>
          <a:noFill/>
          <a:ln/>
        </p:spPr>
        <p:txBody>
          <a:bodyPr wrap="square" rtlCol="0" anchor="ctr"/>
          <a:lstStyle/>
          <a:p>
            <a:pPr marL="0" indent="0">
              <a:lnSpc>
                <a:spcPct val="120000"/>
              </a:lnSpc>
              <a:buNone/>
            </a:pPr>
            <a:r>
              <a:rPr lang="en-US" sz="1400" dirty="0">
                <a:solidFill>
                  <a:srgbClr val="1A1A2E"/>
                </a:solidFill>
                <a:latin typeface="Calibri" pitchFamily="34" charset="0"/>
                <a:ea typeface="Calibri" pitchFamily="34" charset="-122"/>
                <a:cs typeface="Calibri" pitchFamily="34" charset="-120"/>
              </a:rPr>
              <a:t>Tanenbaum, A. S., &amp; Wetherall, D. J. — Computer Networks, 5th Edition, Pearson Education.</a:t>
            </a:r>
            <a:endParaRPr lang="en-US" sz="1400" dirty="0"/>
          </a:p>
        </p:txBody>
      </p:sp>
      <p:sp>
        <p:nvSpPr>
          <p:cNvPr id="12" name="Text 10"/>
          <p:cNvSpPr/>
          <p:nvPr/>
        </p:nvSpPr>
        <p:spPr>
          <a:xfrm>
            <a:off x="11475720" y="6473952"/>
            <a:ext cx="457200" cy="274320"/>
          </a:xfrm>
          <a:prstGeom prst="rect">
            <a:avLst/>
          </a:prstGeom>
          <a:noFill/>
          <a:ln/>
        </p:spPr>
        <p:txBody>
          <a:bodyPr wrap="square" rtlCol="0" anchor="ctr"/>
          <a:lstStyle/>
          <a:p>
            <a:pPr marL="0" indent="0" algn="r">
              <a:buNone/>
            </a:pPr>
            <a:r>
              <a:rPr lang="en-US" sz="1000" dirty="0">
                <a:solidFill>
                  <a:srgbClr val="5A5A6E"/>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1497</Words>
  <Application>Microsoft Office PowerPoint</Application>
  <PresentationFormat>Widescreen</PresentationFormat>
  <Paragraphs>170</Paragraphs>
  <Slides>15</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Blackcaps 1009</cp:lastModifiedBy>
  <cp:revision>3</cp:revision>
  <dcterms:created xsi:type="dcterms:W3CDTF">2026-08-03T17:39:23Z</dcterms:created>
  <dcterms:modified xsi:type="dcterms:W3CDTF">2026-08-04T16:15:31Z</dcterms:modified>
</cp:coreProperties>
</file>